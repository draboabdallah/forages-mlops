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C3E6"/>
                </a:solidFill>
                <a:latin typeface="Calibri"/>
              </a:rPr>
              <a:t>PROJET DE FIN DE COURS · APPRENTISSAGE AUTOMATIQUE APPLIQUÉ À LA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Du modèle à la production :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prédire les pannes de forages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DDE8"/>
                </a:solidFill>
                <a:latin typeface="Calibri"/>
              </a:rPr>
              <a:t>Un service de prédiction tracé, testé, conteneurisé et surveillé, pour planifier les visites préventives des équipes de maintenance.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C3E6"/>
                </a:solidFill>
                <a:latin typeface="Calibri"/>
              </a:rPr>
              <a:t>Groupe : Muhammed Ramadane KOMI · Amir DRABO · Mohamed KABORE</a:t>
            </a:r>
          </a:p>
          <a:p>
            <a:pPr algn="l"/>
            <a:r>
              <a:rPr sz="1400" b="0">
                <a:solidFill>
                  <a:srgbClr val="9FC3E6"/>
                </a:solidFill>
                <a:latin typeface="Calibri"/>
              </a:rPr>
              <a:t>Enseignant : Dr TIEMTORE Souleymane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PROBLÈME ET MÉTRIQUE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Le besoin : savoir quels forages visiter avant la panne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Données : </a:t>
            </a:r>
            <a:r>
              <a:rPr sz="1600">
                <a:solidFill>
                  <a:srgbClr val="1D2433"/>
                </a:solidFill>
                <a:latin typeface="Calibri"/>
              </a:rPr>
              <a:t>3 000 forages historiques, 600 forages d'un mois récent</a:t>
            </a:r>
          </a:p>
          <a:p>
            <a:pPr lvl="1">
              <a:spcAft>
                <a:spcPts val="4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– 8 variables : </a:t>
            </a:r>
            <a:r>
              <a:rPr sz="1400">
                <a:solidFill>
                  <a:srgbClr val="5B6475"/>
                </a:solidFill>
                <a:latin typeface="Calibri"/>
              </a:rPr>
              <a:t>âge, profondeur, débit, usagers, maintenance, pannes passées, pompe, région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Cible : </a:t>
            </a:r>
            <a:r>
              <a:rPr sz="1600">
                <a:solidFill>
                  <a:srgbClr val="1D2433"/>
                </a:solidFill>
                <a:latin typeface="Calibri"/>
              </a:rPr>
              <a:t>panne dans les 90 jours (36 % des forages)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Piège : </a:t>
            </a:r>
            <a:r>
              <a:rPr sz="1600">
                <a:solidFill>
                  <a:srgbClr val="1D2433"/>
                </a:solidFill>
                <a:latin typeface="Calibri"/>
              </a:rPr>
              <a:t>un modèle qui ne prédit jamais de panne a 64 % d'accuracy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Coût asymétrique : </a:t>
            </a:r>
            <a:r>
              <a:rPr sz="1600">
                <a:solidFill>
                  <a:srgbClr val="1D2433"/>
                </a:solidFill>
                <a:latin typeface="Calibri"/>
              </a:rPr>
              <a:t>rater une panne = des semaines sans eau ; visite inutile = une journée d'équipe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55448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62763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PR-AUC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17627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métrique de sélection : qualité du classement des forages par risque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88036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9535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392B"/>
                </a:solidFill>
                <a:latin typeface="Calibri"/>
              </a:rPr>
              <a:t>rappel ≥ 80 %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50215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le seuil de décision est fixé pour ne pas rater plus d'une panne sur cinq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20624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427939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B6475"/>
                </a:solidFill>
                <a:latin typeface="Calibri"/>
              </a:rPr>
              <a:t>précision, F2, Brier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4828031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suivis en complément : charge de visites inutiles et calibration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J1 ·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Exploration : des signaux modestes, pas de fuite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643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D2433"/>
                </a:solidFill>
                <a:latin typeface="Calibri"/>
              </a:rPr>
              <a:t>• Variables les plus liées à la panne (AUC seule) :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age_ans : </a:t>
            </a:r>
            <a:r>
              <a:rPr sz="1200">
                <a:solidFill>
                  <a:srgbClr val="5B6475"/>
                </a:solidFill>
                <a:latin typeface="Calibri"/>
              </a:rPr>
              <a:t>0,64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jours_depuis_maintenance : </a:t>
            </a:r>
            <a:r>
              <a:rPr sz="1200">
                <a:solidFill>
                  <a:srgbClr val="5B6475"/>
                </a:solidFill>
                <a:latin typeface="Calibri"/>
              </a:rPr>
              <a:t>0,62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pannes_12m : </a:t>
            </a:r>
            <a:r>
              <a:rPr sz="1200">
                <a:solidFill>
                  <a:srgbClr val="5B6475"/>
                </a:solidFill>
                <a:latin typeface="Calibri"/>
              </a:rPr>
              <a:t>0,61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usagers_jour : </a:t>
            </a:r>
            <a:r>
              <a:rPr sz="1200">
                <a:solidFill>
                  <a:srgbClr val="5B6475"/>
                </a:solidFill>
                <a:latin typeface="Calibri"/>
              </a:rPr>
              <a:t>0,58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Aucune variable ne sépare presque parfaitement les classes : </a:t>
            </a:r>
            <a:r>
              <a:rPr sz="1400">
                <a:solidFill>
                  <a:srgbClr val="1D2433"/>
                </a:solidFill>
                <a:latin typeface="Calibri"/>
              </a:rPr>
              <a:t>pas de fuite évidente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D2433"/>
                </a:solidFill>
                <a:latin typeface="Calibri"/>
              </a:rPr>
              <a:t>• Prétraitement dans le pipeline, test isolé de la sélection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À valider avec le métier : </a:t>
            </a:r>
            <a:r>
              <a:rPr sz="1400">
                <a:solidFill>
                  <a:srgbClr val="1D2433"/>
                </a:solidFill>
                <a:latin typeface="Calibri"/>
              </a:rPr>
              <a:t>pannes_12m et maintenance mesurées avant la fenêtre de 90 jours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J2 · MODÈLE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6 essais suivis dans MLflow, le plus simple l'emporte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69494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09728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Modèle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 CV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Rappel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Brier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logreg_balanced_c0.3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0,652 ± 0,027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0,606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0,807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0,651 ± 0,027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0,606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0,807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0,192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logreg_splines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0,645 ± 0,026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0,194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hist_gradient_boosting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0,622 ± 0,028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random_forest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0,615 ± 0,031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0,582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dummy_prior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0,362 ± 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37160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Retenu : </a:t>
            </a:r>
            <a:r>
              <a:rPr sz="1400">
                <a:solidFill>
                  <a:srgbClr val="1D2433"/>
                </a:solidFill>
                <a:latin typeface="Calibri"/>
              </a:rPr>
              <a:t>logreg (régression logistique)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Règle : </a:t>
            </a:r>
            <a:r>
              <a:rPr sz="1400">
                <a:solidFill>
                  <a:srgbClr val="1D2433"/>
                </a:solidFill>
                <a:latin typeface="Calibri"/>
              </a:rPr>
              <a:t>meilleure PR-AUC en validation croisée ; à 0,005 près, le plus simple gagne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Les arbres et les splines n'apportent rien : </a:t>
            </a:r>
            <a:r>
              <a:rPr sz="1400">
                <a:solidFill>
                  <a:srgbClr val="1D2433"/>
                </a:solidFill>
                <a:latin typeface="Calibri"/>
              </a:rPr>
              <a:t>relation quasi linéaire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Logistique : </a:t>
            </a:r>
            <a:r>
              <a:rPr sz="1400">
                <a:solidFill>
                  <a:srgbClr val="1D2433"/>
                </a:solidFill>
                <a:latin typeface="Calibri"/>
              </a:rPr>
              <a:t>lisible et la mieux calibrée (Brier 0,192)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Registre MLflow : </a:t>
            </a:r>
            <a:r>
              <a:rPr sz="1400">
                <a:solidFill>
                  <a:srgbClr val="1D2433"/>
                </a:solidFill>
                <a:latin typeface="Calibri"/>
              </a:rPr>
              <a:t>forages-panne-90j v1, alias « champion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J2 · PERFORMANCE SUR LE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Sur 100 pannes à venir, le modèle en signale 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0,606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PR-AUC test (hasard : 0,362)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1635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392B"/>
                </a:solidFill>
                <a:latin typeface="Calibri"/>
              </a:rPr>
              <a:t>81 %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rappel : pannes détectées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965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B6475"/>
                </a:solidFill>
                <a:latin typeface="Calibri"/>
              </a:rPr>
              <a:t>51 %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45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précision : visites utiles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475"/>
                </a:solidFill>
                <a:latin typeface="Calibri"/>
              </a:rPr>
              <a:t>Seuil de décision 0,276, choisi en validation croisée et appliqué tel quel au jeu de test.</a:t>
            </a:r>
          </a:p>
        </p:txBody>
      </p:sp>
      <p:pic>
        <p:nvPicPr>
          <p:cNvPr id="16" name="Picture 15" descr="courbes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371600"/>
            <a:ext cx="5468112" cy="4206240"/>
          </a:xfrm>
          <a:prstGeom prst="rect">
            <a:avLst/>
          </a:prstGeom>
        </p:spPr>
      </p:pic>
      <p:pic>
        <p:nvPicPr>
          <p:cNvPr id="17" name="Picture 16" descr="importance_vari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828800"/>
            <a:ext cx="35661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INDUSTRIALISATION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Architecture : du CSV au service surveillé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03120" cy="868680"/>
          </a:xfrm>
          <a:prstGeom prst="roundRect">
            <a:avLst/>
          </a:prstGeom>
          <a:solidFill>
            <a:srgbClr val="5B6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Données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CSV validés (schéma)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Entraînement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forages.train · CV 5 plis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429000"/>
            <a:ext cx="2103120" cy="868680"/>
          </a:xfrm>
          <a:prstGeom prst="round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runs · champion / challenger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Modèle livré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model.joblib + metadata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API FastAPI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/v1/predict ·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429000"/>
            <a:ext cx="2103120" cy="868680"/>
          </a:xfrm>
          <a:prstGeom prst="round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Image Docker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python 3.12, non root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3429000"/>
            <a:ext cx="2103120" cy="868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Surveillance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forages.drift · retrain</a:t>
            </a:r>
          </a:p>
        </p:txBody>
      </p: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256032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9" idx="1"/>
          </p:cNvCxnSpPr>
          <p:nvPr/>
        </p:nvCxnSpPr>
        <p:spPr>
          <a:xfrm flipV="1">
            <a:off x="512064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9" idx="3"/>
            <a:endCxn id="10" idx="1"/>
          </p:cNvCxnSpPr>
          <p:nvPr/>
        </p:nvCxnSpPr>
        <p:spPr>
          <a:xfrm flipV="1">
            <a:off x="768096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7" idx="2"/>
            <a:endCxn id="8" idx="0"/>
          </p:cNvCxnSpPr>
          <p:nvPr/>
        </p:nvCxnSpPr>
        <p:spPr>
          <a:xfrm flipH="1">
            <a:off x="406908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10" idx="2"/>
            <a:endCxn id="11" idx="0"/>
          </p:cNvCxnSpPr>
          <p:nvPr/>
        </p:nvCxnSpPr>
        <p:spPr>
          <a:xfrm flipH="1">
            <a:off x="918972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9" idx="2"/>
            <a:endCxn id="12" idx="0"/>
          </p:cNvCxnSpPr>
          <p:nvPr/>
        </p:nvCxnSpPr>
        <p:spPr>
          <a:xfrm flipH="1">
            <a:off x="662940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8" idx="3"/>
          </p:cNvCxnSpPr>
          <p:nvPr/>
        </p:nvCxnSpPr>
        <p:spPr>
          <a:xfrm flipH="1" flipV="1">
            <a:off x="5120640" y="38633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846320"/>
            <a:ext cx="9784080" cy="68580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D2433"/>
                </a:solidFill>
                <a:latin typeface="Calibri"/>
              </a:rPr>
              <a:t>CI GitHub Actions à chaque push : tests → ré-entraînement et contrôle de reproductibilité → garde-fou de performance → rapport de dérive → construction et test du conteneur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475"/>
                </a:solidFill>
                <a:latin typeface="Calibri"/>
              </a:rPr>
              <a:t>Traçabilité : chaque réponse de l'API porte la version du modèle, qui renvoie au run MLflow, au commit Git et à l'empreinte des données.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J3 ·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API : un contrat strict et versionné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6692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GET /health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état et version du modèle chargé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GET /v1/model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run MLflow, seuil, métriques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POST /v1/predict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lot de 1 à 1 000 forages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POST /predict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alias de /v1/predict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Validation Pydantic : </a:t>
            </a:r>
            <a:r>
              <a:rPr sz="1400">
                <a:solidFill>
                  <a:srgbClr val="1D2433"/>
                </a:solidFill>
                <a:latin typeface="Calibri"/>
              </a:rPr>
              <a:t>types, bornes physiques, modalités, champs inconnus refusés → 422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Versionnement : </a:t>
            </a:r>
            <a:r>
              <a:rPr sz="1400">
                <a:solidFill>
                  <a:srgbClr val="1D2433"/>
                </a:solidFill>
                <a:latin typeface="Calibri"/>
              </a:rPr>
              <a:t>/v1 dans l'URL, version du modèle dans la réponse et l'en-tête X-Model-Version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Sans modèle : </a:t>
            </a:r>
            <a:r>
              <a:rPr sz="1400">
                <a:solidFill>
                  <a:srgbClr val="1D2433"/>
                </a:solidFill>
                <a:latin typeface="Calibri"/>
              </a:rPr>
              <a:t>mode dégradé signalé par /health, 503 sur les prédictions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417320"/>
            <a:ext cx="5120640" cy="4663440"/>
          </a:xfrm>
          <a:prstGeom prst="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POST /v1/predict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{"forages": [{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"forage_id": "F-0001",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"age_ans": 22,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"jours_depuis_maintenance": 420,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"pannes_12m": 2,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"type_pompe": "thermique", ...}]}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→ 200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{"model_version": "20261025-00c9d345",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"seuil": 0.2765,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"predictions": [{"forage_id": "F-0001",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 "probabilite_panne": 0.7455,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 "a_visiter": true, "niveau_risque": "eleve"}]}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J3-J4 · TESTS ET 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Qualité : tests, intégration continue et garde-fou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tests pytest (données, métriques, pipeline, API, dérive, performance)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620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Reproductible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1071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la CI ré-entraîne depuis zéro et compare aux métriques livrées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1480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879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3659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image construite, démarrée et interrogée (CI et en 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46304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Garde-fou de performance : </a:t>
            </a:r>
            <a:r>
              <a:rPr sz="1500">
                <a:solidFill>
                  <a:srgbClr val="1D2433"/>
                </a:solidFill>
                <a:latin typeface="Calibri"/>
              </a:rPr>
              <a:t>la CI échoue si le modèle passe sous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5B6475"/>
                </a:solidFill>
                <a:latin typeface="Calibri"/>
              </a:rPr>
              <a:t>– PR-AUC 0,55 · ROC-AUC 0,70 · rappel 0,75 · gain sur le hasard 0,15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Seuils = engagements métier, pas les scores actuels : </a:t>
            </a:r>
            <a:r>
              <a:rPr sz="1500">
                <a:solidFill>
                  <a:srgbClr val="1D2433"/>
                </a:solidFill>
                <a:latin typeface="Calibri"/>
              </a:rPr>
              <a:t>marge pour la variance, blocage des régressions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Tests de l'API : </a:t>
            </a:r>
            <a:r>
              <a:rPr sz="1500">
                <a:solidFill>
                  <a:srgbClr val="1D2433"/>
                </a:solidFill>
                <a:latin typeface="Calibri"/>
              </a:rPr>
              <a:t>cas valides, lots, ordre, alias, 8 entrées invalides, mode dégradé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Tests des données : </a:t>
            </a:r>
            <a:r>
              <a:rPr sz="1500">
                <a:solidFill>
                  <a:srgbClr val="1D2433"/>
                </a:solidFill>
                <a:latin typeface="Calibri"/>
              </a:rPr>
              <a:t>schéma, bornes, modalités, découpage stratifié et reproductible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J5 ·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Nouveau mois : dérive détectée, décision RE-ENTRAINER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deriv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2449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Dérive : </a:t>
            </a:r>
            <a:r>
              <a:rPr sz="1400">
                <a:solidFill>
                  <a:srgbClr val="1D2433"/>
                </a:solidFill>
                <a:latin typeface="Calibri"/>
              </a:rPr>
              <a:t>usagers_jour de 484 à 643 (PSI 0,39), 26 % hors plage d'entraînement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Mais le modèle tient : </a:t>
            </a:r>
            <a:r>
              <a:rPr sz="1400">
                <a:solidFill>
                  <a:srgbClr val="1D2433"/>
                </a:solidFill>
                <a:latin typeface="Calibri"/>
              </a:rPr>
              <a:t>ROC-AUC 0,781, rappel 0,892, écart de calibration −0,005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434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Champion / challenger : </a:t>
            </a:r>
            <a:r>
              <a:rPr sz="1400">
                <a:solidFill>
                  <a:srgbClr val="1D2433"/>
                </a:solidFill>
                <a:latin typeface="Calibri"/>
              </a:rPr>
              <a:t>gain de PR-AUC +0,008, IC 95 % [-0,003 ; +0,017]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Seuil de promotion +0,01 non atteint : </a:t>
            </a:r>
            <a:r>
              <a:rPr sz="1400">
                <a:solidFill>
                  <a:srgbClr val="1D2433"/>
                </a:solidFill>
                <a:latin typeface="Calibri"/>
              </a:rPr>
              <a:t>champion conservé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Impact : </a:t>
            </a:r>
            <a:r>
              <a:rPr sz="1400">
                <a:solidFill>
                  <a:srgbClr val="1D2433"/>
                </a:solidFill>
                <a:latin typeface="Calibri"/>
              </a:rPr>
              <a:t>72 % des forages au-dessus du seuil → prioriser par probabilité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Bonus, limites et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Tableau de bord : </a:t>
            </a:r>
            <a:r>
              <a:rPr sz="1500">
                <a:solidFill>
                  <a:srgbClr val="1D2433"/>
                </a:solidFill>
                <a:latin typeface="Calibri"/>
              </a:rPr>
              <a:t>forages classés par risque, filtres, capacité de visites réglable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Registre MLflow : </a:t>
            </a:r>
            <a:r>
              <a:rPr sz="1500">
                <a:solidFill>
                  <a:srgbClr val="1D2433"/>
                </a:solidFill>
                <a:latin typeface="Calibri"/>
              </a:rPr>
              <a:t>alias champion / challenger, promotion conditionnée à un gain mesuré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Règle de décision : </a:t>
            </a:r>
            <a:r>
              <a:rPr sz="1500">
                <a:solidFill>
                  <a:srgbClr val="1D2433"/>
                </a:solidFill>
                <a:latin typeface="Calibri"/>
              </a:rPr>
              <a:t>OK / SURVEILLER / RE-ENTRAINER, testée et exécutée par la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Limites : </a:t>
            </a:r>
            <a:r>
              <a:rPr sz="1500">
                <a:solidFill>
                  <a:srgbClr val="1D2433"/>
                </a:solidFill>
                <a:latin typeface="Calibri"/>
              </a:rPr>
              <a:t>données fictives, un seul mois récent étiqueté, hypothèse temporelle à confirmer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Capacité : </a:t>
            </a:r>
            <a:r>
              <a:rPr sz="1500">
                <a:solidFill>
                  <a:srgbClr val="1D2433"/>
                </a:solidFill>
                <a:latin typeface="Calibri"/>
              </a:rPr>
              <a:t>au seuil actuel, trop de forages signalés pour toutes les équipes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Suite : </a:t>
            </a:r>
            <a:r>
              <a:rPr sz="1500">
                <a:solidFill>
                  <a:srgbClr val="1D2433"/>
                </a:solidFill>
                <a:latin typeface="Calibri"/>
              </a:rPr>
              <a:t>dérive mensuelle planifiée (--fail-on-retrain), second mois pour le challenger, seuil fixé selon la capacité réelle de visites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475"/>
                </a:solidFill>
                <a:latin typeface="Calibri"/>
              </a:rPr>
              <a:t>Tout résultat présenté est produit par un script du dépôt : explore → train → drift → retrain → dashboard → make_slides.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