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FC3E6"/>
                </a:solidFill>
                <a:latin typeface="Calibri"/>
              </a:rPr>
              <a:t>PROJET DE FIN DE COURS · APPRENTISSAGE AUTOMATIQUE APPLIQUÉ À LA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Du modèle à la production :</a:t>
            </a:r>
          </a:p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prédire les pannes de forages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5DDE8"/>
                </a:solidFill>
                <a:latin typeface="Calibri"/>
              </a:rPr>
              <a:t>Un service de prédiction tracé, testé, conteneurisé et surveillé, pour planifier les visites préventives des équipes de maintenance.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FC3E6"/>
                </a:solidFill>
                <a:latin typeface="Calibri"/>
              </a:rPr>
              <a:t>Amir Drabo · Dr TIEMTORE Souleymane · octobre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5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F5D8A"/>
                </a:solidFill>
                <a:latin typeface="Calibri"/>
              </a:rPr>
              <a:t>PROBLÈME ET MÉTRIQUE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D2433"/>
                </a:solidFill>
                <a:latin typeface="Calibri"/>
              </a:rPr>
              <a:t>Le besoin : savoir quels forages visiter avant la panne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5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035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600">
                <a:solidFill>
                  <a:srgbClr val="1D2433"/>
                </a:solidFill>
                <a:latin typeface="Calibri"/>
              </a:rPr>
              <a:t>• Données : </a:t>
            </a:r>
            <a:r>
              <a:rPr sz="1600">
                <a:solidFill>
                  <a:srgbClr val="1D2433"/>
                </a:solidFill>
                <a:latin typeface="Calibri"/>
              </a:rPr>
              <a:t>3 000 forages historiques, 600 forages d'un mois récent</a:t>
            </a:r>
          </a:p>
          <a:p>
            <a:pPr lvl="1">
              <a:spcAft>
                <a:spcPts val="400"/>
              </a:spcAft>
            </a:pPr>
            <a:r>
              <a:rPr b="1" sz="1400">
                <a:solidFill>
                  <a:srgbClr val="1D2433"/>
                </a:solidFill>
                <a:latin typeface="Calibri"/>
              </a:rPr>
              <a:t>– 8 variables : </a:t>
            </a:r>
            <a:r>
              <a:rPr sz="1400">
                <a:solidFill>
                  <a:srgbClr val="5B6475"/>
                </a:solidFill>
                <a:latin typeface="Calibri"/>
              </a:rPr>
              <a:t>âge, profondeur, débit, usagers, maintenance, pannes passées, pompe, région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1D2433"/>
                </a:solidFill>
                <a:latin typeface="Calibri"/>
              </a:rPr>
              <a:t>• Cible : </a:t>
            </a:r>
            <a:r>
              <a:rPr sz="1600">
                <a:solidFill>
                  <a:srgbClr val="1D2433"/>
                </a:solidFill>
                <a:latin typeface="Calibri"/>
              </a:rPr>
              <a:t>panne dans les 90 jours (36 % des forages)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1D2433"/>
                </a:solidFill>
                <a:latin typeface="Calibri"/>
              </a:rPr>
              <a:t>• Piège : </a:t>
            </a:r>
            <a:r>
              <a:rPr sz="1600">
                <a:solidFill>
                  <a:srgbClr val="1D2433"/>
                </a:solidFill>
                <a:latin typeface="Calibri"/>
              </a:rPr>
              <a:t>un modèle qui ne prédit jamais de panne a 64 % d'accuracy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1D2433"/>
                </a:solidFill>
                <a:latin typeface="Calibri"/>
              </a:rPr>
              <a:t>• Coût asymétrique : </a:t>
            </a:r>
            <a:r>
              <a:rPr sz="1600">
                <a:solidFill>
                  <a:srgbClr val="1D2433"/>
                </a:solidFill>
                <a:latin typeface="Calibri"/>
              </a:rPr>
              <a:t>rater une panne = des semaines sans eau ; visite inutile = une journée d'équipe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1554480"/>
            <a:ext cx="4480560" cy="11430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78040" y="1627632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F5D8A"/>
                </a:solidFill>
                <a:latin typeface="Calibri"/>
              </a:rPr>
              <a:t>PR-AUC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2176272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475"/>
                </a:solidFill>
                <a:latin typeface="Calibri"/>
              </a:rPr>
              <a:t>métrique de sélection : qualité du classement des forages par risque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2880360"/>
            <a:ext cx="4480560" cy="11430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78040" y="2953512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C0392B"/>
                </a:solidFill>
                <a:latin typeface="Calibri"/>
              </a:rPr>
              <a:t>rappel ≥ 80 %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3502152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475"/>
                </a:solidFill>
                <a:latin typeface="Calibri"/>
              </a:rPr>
              <a:t>le seuil de décision est fixé pour ne pas rater plus d'une panne sur cinq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4206240"/>
            <a:ext cx="4480560" cy="11430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78040" y="4279392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B6475"/>
                </a:solidFill>
                <a:latin typeface="Calibri"/>
              </a:rPr>
              <a:t>précision, F2, Brier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4828031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475"/>
                </a:solidFill>
                <a:latin typeface="Calibri"/>
              </a:rPr>
              <a:t>suivis en complément : charge de visites inutiles et calibration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5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F5D8A"/>
                </a:solidFill>
                <a:latin typeface="Calibri"/>
              </a:rPr>
              <a:t>J1 · DONNÉES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D2433"/>
                </a:solidFill>
                <a:latin typeface="Calibri"/>
              </a:rPr>
              <a:t>Exploration : des signaux modestes, pas de fuite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5"/>
                </a:solidFill>
                <a:latin typeface="Calibri"/>
              </a:rPr>
              <a:t>3</a:t>
            </a:r>
          </a:p>
        </p:txBody>
      </p:sp>
      <p:pic>
        <p:nvPicPr>
          <p:cNvPr id="6" name="Picture 5" descr="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766560" cy="36435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79" y="1371600"/>
            <a:ext cx="4297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D2433"/>
                </a:solidFill>
                <a:latin typeface="Calibri"/>
              </a:rPr>
              <a:t>• Variables les plus liées à la panne (AUC seule) :</a:t>
            </a:r>
          </a:p>
          <a:p>
            <a:pPr lvl="1">
              <a:spcAft>
                <a:spcPts val="400"/>
              </a:spcAft>
            </a:pPr>
            <a:r>
              <a:rPr b="1" sz="1200">
                <a:solidFill>
                  <a:srgbClr val="1D2433"/>
                </a:solidFill>
                <a:latin typeface="Calibri"/>
              </a:rPr>
              <a:t>– age_ans : </a:t>
            </a:r>
            <a:r>
              <a:rPr sz="1200">
                <a:solidFill>
                  <a:srgbClr val="5B6475"/>
                </a:solidFill>
                <a:latin typeface="Calibri"/>
              </a:rPr>
              <a:t>0,64</a:t>
            </a:r>
          </a:p>
          <a:p>
            <a:pPr lvl="1">
              <a:spcAft>
                <a:spcPts val="400"/>
              </a:spcAft>
            </a:pPr>
            <a:r>
              <a:rPr b="1" sz="1200">
                <a:solidFill>
                  <a:srgbClr val="1D2433"/>
                </a:solidFill>
                <a:latin typeface="Calibri"/>
              </a:rPr>
              <a:t>– jours_depuis_maintenance : </a:t>
            </a:r>
            <a:r>
              <a:rPr sz="1200">
                <a:solidFill>
                  <a:srgbClr val="5B6475"/>
                </a:solidFill>
                <a:latin typeface="Calibri"/>
              </a:rPr>
              <a:t>0,62</a:t>
            </a:r>
          </a:p>
          <a:p>
            <a:pPr lvl="1">
              <a:spcAft>
                <a:spcPts val="400"/>
              </a:spcAft>
            </a:pPr>
            <a:r>
              <a:rPr b="1" sz="1200">
                <a:solidFill>
                  <a:srgbClr val="1D2433"/>
                </a:solidFill>
                <a:latin typeface="Calibri"/>
              </a:rPr>
              <a:t>– pannes_12m : </a:t>
            </a:r>
            <a:r>
              <a:rPr sz="1200">
                <a:solidFill>
                  <a:srgbClr val="5B6475"/>
                </a:solidFill>
                <a:latin typeface="Calibri"/>
              </a:rPr>
              <a:t>0,61</a:t>
            </a:r>
          </a:p>
          <a:p>
            <a:pPr lvl="1">
              <a:spcAft>
                <a:spcPts val="400"/>
              </a:spcAft>
            </a:pPr>
            <a:r>
              <a:rPr b="1" sz="1200">
                <a:solidFill>
                  <a:srgbClr val="1D2433"/>
                </a:solidFill>
                <a:latin typeface="Calibri"/>
              </a:rPr>
              <a:t>– usagers_jour : </a:t>
            </a:r>
            <a:r>
              <a:rPr sz="1200">
                <a:solidFill>
                  <a:srgbClr val="5B6475"/>
                </a:solidFill>
                <a:latin typeface="Calibri"/>
              </a:rPr>
              <a:t>0,58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D2433"/>
                </a:solidFill>
                <a:latin typeface="Calibri"/>
              </a:rPr>
              <a:t>• Aucune variable ne sépare presque parfaitement les classes : </a:t>
            </a:r>
            <a:r>
              <a:rPr sz="1400">
                <a:solidFill>
                  <a:srgbClr val="1D2433"/>
                </a:solidFill>
                <a:latin typeface="Calibri"/>
              </a:rPr>
              <a:t>pas de fuite évidente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D2433"/>
                </a:solidFill>
                <a:latin typeface="Calibri"/>
              </a:rPr>
              <a:t>• Prétraitement dans le pipeline, test isolé de la sélection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D2433"/>
                </a:solidFill>
                <a:latin typeface="Calibri"/>
              </a:rPr>
              <a:t>• À valider avec le métier : </a:t>
            </a:r>
            <a:r>
              <a:rPr sz="1400">
                <a:solidFill>
                  <a:srgbClr val="1D2433"/>
                </a:solidFill>
                <a:latin typeface="Calibri"/>
              </a:rPr>
              <a:t>pannes_12m et maintenance mesurées avant la fenêtre de 90 jours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5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F5D8A"/>
                </a:solidFill>
                <a:latin typeface="Calibri"/>
              </a:rPr>
              <a:t>J2 · MODÈLE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D2433"/>
                </a:solidFill>
                <a:latin typeface="Calibri"/>
              </a:rPr>
              <a:t>6 essais suivis dans MLflow, le plus simple l'emporte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5"/>
                </a:solidFill>
                <a:latin typeface="Calibri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694944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463040"/>
                <a:gridCol w="1097280"/>
                <a:gridCol w="1005840"/>
                <a:gridCol w="100584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Modèle</a:t>
                      </a:r>
                    </a:p>
                  </a:txBody>
                  <a:tcPr>
                    <a:solidFill>
                      <a:srgbClr val="1D24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PR-AUC CV</a:t>
                      </a:r>
                    </a:p>
                  </a:txBody>
                  <a:tcPr>
                    <a:solidFill>
                      <a:srgbClr val="1D24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PR-AUC test</a:t>
                      </a:r>
                    </a:p>
                  </a:txBody>
                  <a:tcPr>
                    <a:solidFill>
                      <a:srgbClr val="1D24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Rappel test</a:t>
                      </a:r>
                    </a:p>
                  </a:txBody>
                  <a:tcPr>
                    <a:solidFill>
                      <a:srgbClr val="1D24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Brier test</a:t>
                      </a:r>
                    </a:p>
                  </a:txBody>
                  <a:tcPr>
                    <a:solidFill>
                      <a:srgbClr val="1D24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433"/>
                          </a:solidFill>
                          <a:latin typeface="Calibri"/>
                        </a:rPr>
                        <a:t>logreg_balanced_c0.3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433"/>
                          </a:solidFill>
                          <a:latin typeface="Calibri"/>
                        </a:rPr>
                        <a:t>0,652 ± 0,027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433"/>
                          </a:solidFill>
                          <a:latin typeface="Calibri"/>
                        </a:rPr>
                        <a:t>0,606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433"/>
                          </a:solidFill>
                          <a:latin typeface="Calibri"/>
                        </a:rPr>
                        <a:t>0,807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433"/>
                          </a:solidFill>
                          <a:latin typeface="Calibri"/>
                        </a:rPr>
                        <a:t>0,203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D2433"/>
                          </a:solidFill>
                          <a:latin typeface="Calibri"/>
                        </a:rPr>
                        <a:t>logreg</a:t>
                      </a:r>
                    </a:p>
                  </a:txBody>
                  <a:tcPr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D2433"/>
                          </a:solidFill>
                          <a:latin typeface="Calibri"/>
                        </a:rPr>
                        <a:t>0,651 ± 0,027</a:t>
                      </a:r>
                    </a:p>
                  </a:txBody>
                  <a:tcPr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D2433"/>
                          </a:solidFill>
                          <a:latin typeface="Calibri"/>
                        </a:rPr>
                        <a:t>0,606</a:t>
                      </a:r>
                    </a:p>
                  </a:txBody>
                  <a:tcPr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D2433"/>
                          </a:solidFill>
                          <a:latin typeface="Calibri"/>
                        </a:rPr>
                        <a:t>0,807</a:t>
                      </a:r>
                    </a:p>
                  </a:txBody>
                  <a:tcPr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D2433"/>
                          </a:solidFill>
                          <a:latin typeface="Calibri"/>
                        </a:rPr>
                        <a:t>0,192</a:t>
                      </a:r>
                    </a:p>
                  </a:txBody>
                  <a:tcPr>
                    <a:solidFill>
                      <a:srgbClr val="DCE8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433"/>
                          </a:solidFill>
                          <a:latin typeface="Calibri"/>
                        </a:rPr>
                        <a:t>logreg_splines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433"/>
                          </a:solidFill>
                          <a:latin typeface="Calibri"/>
                        </a:rPr>
                        <a:t>0,645 ± 0,026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433"/>
                          </a:solidFill>
                          <a:latin typeface="Calibri"/>
                        </a:rPr>
                        <a:t>0,602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433"/>
                          </a:solidFill>
                          <a:latin typeface="Calibri"/>
                        </a:rPr>
                        <a:t>0,812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433"/>
                          </a:solidFill>
                          <a:latin typeface="Calibri"/>
                        </a:rPr>
                        <a:t>0,194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433"/>
                          </a:solidFill>
                          <a:latin typeface="Calibri"/>
                        </a:rPr>
                        <a:t>hist_gradient_boosting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433"/>
                          </a:solidFill>
                          <a:latin typeface="Calibri"/>
                        </a:rPr>
                        <a:t>0,622 ± 0,028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433"/>
                          </a:solidFill>
                          <a:latin typeface="Calibri"/>
                        </a:rPr>
                        <a:t>0,585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433"/>
                          </a:solidFill>
                          <a:latin typeface="Calibri"/>
                        </a:rPr>
                        <a:t>0,844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433"/>
                          </a:solidFill>
                          <a:latin typeface="Calibri"/>
                        </a:rPr>
                        <a:t>0,198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433"/>
                          </a:solidFill>
                          <a:latin typeface="Calibri"/>
                        </a:rPr>
                        <a:t>random_forest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433"/>
                          </a:solidFill>
                          <a:latin typeface="Calibri"/>
                        </a:rPr>
                        <a:t>0,615 ± 0,031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433"/>
                          </a:solidFill>
                          <a:latin typeface="Calibri"/>
                        </a:rPr>
                        <a:t>0,582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433"/>
                          </a:solidFill>
                          <a:latin typeface="Calibri"/>
                        </a:rPr>
                        <a:t>0,835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433"/>
                          </a:solidFill>
                          <a:latin typeface="Calibri"/>
                        </a:rPr>
                        <a:t>0,203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433"/>
                          </a:solidFill>
                          <a:latin typeface="Calibri"/>
                        </a:rPr>
                        <a:t>dummy_prior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433"/>
                          </a:solidFill>
                          <a:latin typeface="Calibri"/>
                        </a:rPr>
                        <a:t>0,362 ± 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433"/>
                          </a:solidFill>
                          <a:latin typeface="Calibri"/>
                        </a:rPr>
                        <a:t>0,363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433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433"/>
                          </a:solidFill>
                          <a:latin typeface="Calibri"/>
                        </a:rPr>
                        <a:t>0,231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863840" y="1371600"/>
            <a:ext cx="4023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400">
                <a:solidFill>
                  <a:srgbClr val="1D2433"/>
                </a:solidFill>
                <a:latin typeface="Calibri"/>
              </a:rPr>
              <a:t>• Retenu : </a:t>
            </a:r>
            <a:r>
              <a:rPr sz="1400">
                <a:solidFill>
                  <a:srgbClr val="1D2433"/>
                </a:solidFill>
                <a:latin typeface="Calibri"/>
              </a:rPr>
              <a:t>logreg (régression logistique)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D2433"/>
                </a:solidFill>
                <a:latin typeface="Calibri"/>
              </a:rPr>
              <a:t>• Règle : </a:t>
            </a:r>
            <a:r>
              <a:rPr sz="1400">
                <a:solidFill>
                  <a:srgbClr val="1D2433"/>
                </a:solidFill>
                <a:latin typeface="Calibri"/>
              </a:rPr>
              <a:t>meilleure PR-AUC en validation croisée ; à 0,005 près, le plus simple gagne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D2433"/>
                </a:solidFill>
                <a:latin typeface="Calibri"/>
              </a:rPr>
              <a:t>• Les arbres et les splines n'apportent rien : </a:t>
            </a:r>
            <a:r>
              <a:rPr sz="1400">
                <a:solidFill>
                  <a:srgbClr val="1D2433"/>
                </a:solidFill>
                <a:latin typeface="Calibri"/>
              </a:rPr>
              <a:t>relation quasi linéaire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D2433"/>
                </a:solidFill>
                <a:latin typeface="Calibri"/>
              </a:rPr>
              <a:t>• Logistique : </a:t>
            </a:r>
            <a:r>
              <a:rPr sz="1400">
                <a:solidFill>
                  <a:srgbClr val="1D2433"/>
                </a:solidFill>
                <a:latin typeface="Calibri"/>
              </a:rPr>
              <a:t>lisible et la mieux calibrée (Brier 0,192)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D2433"/>
                </a:solidFill>
                <a:latin typeface="Calibri"/>
              </a:rPr>
              <a:t>• Registre MLflow : </a:t>
            </a:r>
            <a:r>
              <a:rPr sz="1400">
                <a:solidFill>
                  <a:srgbClr val="1D2433"/>
                </a:solidFill>
                <a:latin typeface="Calibri"/>
              </a:rPr>
              <a:t>forages-panne-90j v1, alias « champion 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5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F5D8A"/>
                </a:solidFill>
                <a:latin typeface="Calibri"/>
              </a:rPr>
              <a:t>J2 · PERFORMANCE SUR LE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D2433"/>
                </a:solidFill>
                <a:latin typeface="Calibri"/>
              </a:rPr>
              <a:t>Sur 100 pannes à venir, le modèle en signale 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5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36192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F5D8A"/>
                </a:solidFill>
                <a:latin typeface="Calibri"/>
              </a:rPr>
              <a:t>0,606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8483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475"/>
                </a:solidFill>
                <a:latin typeface="Calibri"/>
              </a:rPr>
              <a:t>PR-AUC test (hasard : 0,362)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4320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816352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C0392B"/>
                </a:solidFill>
                <a:latin typeface="Calibri"/>
              </a:rPr>
              <a:t>81 %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36499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475"/>
                </a:solidFill>
                <a:latin typeface="Calibri"/>
              </a:rPr>
              <a:t>rappel : pannes détectées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2336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096512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B6475"/>
                </a:solidFill>
                <a:latin typeface="Calibri"/>
              </a:rPr>
              <a:t>51 %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64515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475"/>
                </a:solidFill>
                <a:latin typeface="Calibri"/>
              </a:rPr>
              <a:t>précision : visites utiles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34924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475"/>
                </a:solidFill>
                <a:latin typeface="Calibri"/>
              </a:rPr>
              <a:t>Seuil de décision 0,276, choisi en validation croisée et appliqué tel quel au jeu de test.</a:t>
            </a:r>
          </a:p>
        </p:txBody>
      </p:sp>
      <p:pic>
        <p:nvPicPr>
          <p:cNvPr id="16" name="Picture 15" descr="courbes_p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371600"/>
            <a:ext cx="5468112" cy="4206240"/>
          </a:xfrm>
          <a:prstGeom prst="rect">
            <a:avLst/>
          </a:prstGeom>
        </p:spPr>
      </p:pic>
      <p:pic>
        <p:nvPicPr>
          <p:cNvPr id="17" name="Picture 16" descr="importance_variab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828800"/>
            <a:ext cx="356616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5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F5D8A"/>
                </a:solidFill>
                <a:latin typeface="Calibri"/>
              </a:rPr>
              <a:t>INDUSTRIALISATION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D2433"/>
                </a:solidFill>
                <a:latin typeface="Calibri"/>
              </a:rPr>
              <a:t>Architecture : du CSV au service surveillé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5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2103120" cy="868680"/>
          </a:xfrm>
          <a:prstGeom prst="roundRect">
            <a:avLst/>
          </a:prstGeom>
          <a:solidFill>
            <a:srgbClr val="5B6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Données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CSV validés (schéma)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1828800"/>
            <a:ext cx="2103120" cy="868680"/>
          </a:xfrm>
          <a:prstGeom prst="roundRect">
            <a:avLst/>
          </a:prstGeom>
          <a:solidFill>
            <a:srgbClr val="2F5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Entraînement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forages.train · CV 5 plis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3429000"/>
            <a:ext cx="2103120" cy="868680"/>
          </a:xfrm>
          <a:prstGeom prst="roundRect">
            <a:avLst/>
          </a:prstGeom>
          <a:solidFill>
            <a:srgbClr val="1D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MLflow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runs · champion / challenger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828800"/>
            <a:ext cx="2103120" cy="868680"/>
          </a:xfrm>
          <a:prstGeom prst="roundRect">
            <a:avLst/>
          </a:prstGeom>
          <a:solidFill>
            <a:srgbClr val="2F5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Modèle livré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model.joblib + metadata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828800"/>
            <a:ext cx="2103120" cy="868680"/>
          </a:xfrm>
          <a:prstGeom prst="roundRect">
            <a:avLst/>
          </a:prstGeom>
          <a:solidFill>
            <a:srgbClr val="2F5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API FastAPI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/v1/predict · /health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3429000"/>
            <a:ext cx="2103120" cy="868680"/>
          </a:xfrm>
          <a:prstGeom prst="roundRect">
            <a:avLst/>
          </a:prstGeom>
          <a:solidFill>
            <a:srgbClr val="1D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Image Docker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python 3.12, non root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3429000"/>
            <a:ext cx="2103120" cy="86868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Surveillance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forages.drift · retrain</a:t>
            </a:r>
          </a:p>
        </p:txBody>
      </p:sp>
      <p:cxnSp>
        <p:nvCxnSpPr>
          <p:cNvPr id="13" name="Connector 12"/>
          <p:cNvCxnSpPr>
            <a:stCxn id="6" idx="3"/>
            <a:endCxn id="7" idx="1"/>
          </p:cNvCxnSpPr>
          <p:nvPr/>
        </p:nvCxnSpPr>
        <p:spPr>
          <a:xfrm flipV="1">
            <a:off x="2560320" y="2263140"/>
            <a:ext cx="457200" cy="0"/>
          </a:xfrm>
          <a:prstGeom prst="line">
            <a:avLst/>
          </a:prstGeom>
          <a:ln w="25400">
            <a:solidFill>
              <a:srgbClr val="5B647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>
            <a:stCxn id="7" idx="3"/>
            <a:endCxn id="9" idx="1"/>
          </p:cNvCxnSpPr>
          <p:nvPr/>
        </p:nvCxnSpPr>
        <p:spPr>
          <a:xfrm flipV="1">
            <a:off x="5120640" y="2263140"/>
            <a:ext cx="457200" cy="0"/>
          </a:xfrm>
          <a:prstGeom prst="line">
            <a:avLst/>
          </a:prstGeom>
          <a:ln w="25400">
            <a:solidFill>
              <a:srgbClr val="5B647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stCxn id="9" idx="3"/>
            <a:endCxn id="10" idx="1"/>
          </p:cNvCxnSpPr>
          <p:nvPr/>
        </p:nvCxnSpPr>
        <p:spPr>
          <a:xfrm flipV="1">
            <a:off x="7680960" y="2263140"/>
            <a:ext cx="457200" cy="0"/>
          </a:xfrm>
          <a:prstGeom prst="line">
            <a:avLst/>
          </a:prstGeom>
          <a:ln w="25400">
            <a:solidFill>
              <a:srgbClr val="5B647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>
            <a:stCxn id="7" idx="2"/>
            <a:endCxn id="8" idx="0"/>
          </p:cNvCxnSpPr>
          <p:nvPr/>
        </p:nvCxnSpPr>
        <p:spPr>
          <a:xfrm flipH="1">
            <a:off x="4069080" y="2697480"/>
            <a:ext cx="0" cy="731520"/>
          </a:xfrm>
          <a:prstGeom prst="line">
            <a:avLst/>
          </a:prstGeom>
          <a:ln w="25400">
            <a:solidFill>
              <a:srgbClr val="5B647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>
            <a:stCxn id="10" idx="2"/>
            <a:endCxn id="11" idx="0"/>
          </p:cNvCxnSpPr>
          <p:nvPr/>
        </p:nvCxnSpPr>
        <p:spPr>
          <a:xfrm flipH="1">
            <a:off x="9189720" y="2697480"/>
            <a:ext cx="0" cy="731520"/>
          </a:xfrm>
          <a:prstGeom prst="line">
            <a:avLst/>
          </a:prstGeom>
          <a:ln w="25400">
            <a:solidFill>
              <a:srgbClr val="5B647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>
            <a:stCxn id="9" idx="2"/>
            <a:endCxn id="12" idx="0"/>
          </p:cNvCxnSpPr>
          <p:nvPr/>
        </p:nvCxnSpPr>
        <p:spPr>
          <a:xfrm flipH="1">
            <a:off x="6629400" y="2697480"/>
            <a:ext cx="0" cy="731520"/>
          </a:xfrm>
          <a:prstGeom prst="line">
            <a:avLst/>
          </a:prstGeom>
          <a:ln w="25400">
            <a:solidFill>
              <a:srgbClr val="5B647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stCxn id="12" idx="1"/>
            <a:endCxn id="8" idx="3"/>
          </p:cNvCxnSpPr>
          <p:nvPr/>
        </p:nvCxnSpPr>
        <p:spPr>
          <a:xfrm flipH="1" flipV="1">
            <a:off x="5120640" y="3863340"/>
            <a:ext cx="457200" cy="0"/>
          </a:xfrm>
          <a:prstGeom prst="line">
            <a:avLst/>
          </a:prstGeom>
          <a:ln w="25400">
            <a:solidFill>
              <a:srgbClr val="5B647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57200" y="4846320"/>
            <a:ext cx="9784080" cy="68580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93776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D2433"/>
                </a:solidFill>
                <a:latin typeface="Calibri"/>
              </a:rPr>
              <a:t>CI GitHub Actions à chaque push : tests → ré-entraînement et contrôle de reproductibilité → garde-fou de performance → rapport de dérive → construction et test du conteneur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715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475"/>
                </a:solidFill>
                <a:latin typeface="Calibri"/>
              </a:rPr>
              <a:t>Traçabilité : chaque réponse de l'API porte la version du modèle, qui renvoie au run MLflow, au commit Git et à l'empreinte des données.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5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F5D8A"/>
                </a:solidFill>
                <a:latin typeface="Calibri"/>
              </a:rPr>
              <a:t>J3 ·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D2433"/>
                </a:solidFill>
                <a:latin typeface="Calibri"/>
              </a:rPr>
              <a:t>API : un contrat strict et versionné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5"/>
                </a:solidFill>
                <a:latin typeface="Calibri"/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566928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Route</a:t>
                      </a:r>
                    </a:p>
                  </a:txBody>
                  <a:tcPr>
                    <a:solidFill>
                      <a:srgbClr val="1D24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Rôle</a:t>
                      </a:r>
                    </a:p>
                  </a:txBody>
                  <a:tcPr>
                    <a:solidFill>
                      <a:srgbClr val="1D24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433"/>
                          </a:solidFill>
                          <a:latin typeface="Calibri"/>
                        </a:rPr>
                        <a:t>GET /health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433"/>
                          </a:solidFill>
                          <a:latin typeface="Calibri"/>
                        </a:rPr>
                        <a:t>état et version du modèle chargé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433"/>
                          </a:solidFill>
                          <a:latin typeface="Calibri"/>
                        </a:rPr>
                        <a:t>GET /v1/model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433"/>
                          </a:solidFill>
                          <a:latin typeface="Calibri"/>
                        </a:rPr>
                        <a:t>run MLflow, seuil, métriques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433"/>
                          </a:solidFill>
                          <a:latin typeface="Calibri"/>
                        </a:rPr>
                        <a:t>POST /v1/predict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433"/>
                          </a:solidFill>
                          <a:latin typeface="Calibri"/>
                        </a:rPr>
                        <a:t>lot de 1 à 1 000 forages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433"/>
                          </a:solidFill>
                          <a:latin typeface="Calibri"/>
                        </a:rPr>
                        <a:t>POST /predict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433"/>
                          </a:solidFill>
                          <a:latin typeface="Calibri"/>
                        </a:rPr>
                        <a:t>alias de /v1/predict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749039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400">
                <a:solidFill>
                  <a:srgbClr val="1D2433"/>
                </a:solidFill>
                <a:latin typeface="Calibri"/>
              </a:rPr>
              <a:t>• Validation Pydantic : </a:t>
            </a:r>
            <a:r>
              <a:rPr sz="1400">
                <a:solidFill>
                  <a:srgbClr val="1D2433"/>
                </a:solidFill>
                <a:latin typeface="Calibri"/>
              </a:rPr>
              <a:t>types, bornes physiques, modalités, champs inconnus refusés → 422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D2433"/>
                </a:solidFill>
                <a:latin typeface="Calibri"/>
              </a:rPr>
              <a:t>• Versionnement : </a:t>
            </a:r>
            <a:r>
              <a:rPr sz="1400">
                <a:solidFill>
                  <a:srgbClr val="1D2433"/>
                </a:solidFill>
                <a:latin typeface="Calibri"/>
              </a:rPr>
              <a:t>/v1 dans l'URL, version du modèle dans la réponse et l'en-tête X-Model-Version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D2433"/>
                </a:solidFill>
                <a:latin typeface="Calibri"/>
              </a:rPr>
              <a:t>• Sans modèle : </a:t>
            </a:r>
            <a:r>
              <a:rPr sz="1400">
                <a:solidFill>
                  <a:srgbClr val="1D2433"/>
                </a:solidFill>
                <a:latin typeface="Calibri"/>
              </a:rPr>
              <a:t>mode dégradé signalé par /health, 503 sur les prédictions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417320"/>
            <a:ext cx="5120640" cy="4663440"/>
          </a:xfrm>
          <a:prstGeom prst="rect">
            <a:avLst/>
          </a:prstGeom>
          <a:solidFill>
            <a:srgbClr val="1D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5DDE8"/>
                </a:solidFill>
                <a:latin typeface="Consolas"/>
              </a:rPr>
              <a:t>POST /v1/predict</a:t>
            </a:r>
          </a:p>
          <a:p>
            <a:pPr algn="l"/>
            <a:r>
              <a:rPr sz="1200" b="0">
                <a:solidFill>
                  <a:srgbClr val="D5DDE8"/>
                </a:solidFill>
                <a:latin typeface="Consolas"/>
              </a:rPr>
              <a:t>{"forages": [{</a:t>
            </a:r>
          </a:p>
          <a:p>
            <a:pPr algn="l"/>
            <a:r>
              <a:rPr sz="1200" b="0">
                <a:solidFill>
                  <a:srgbClr val="D5DDE8"/>
                </a:solidFill>
                <a:latin typeface="Consolas"/>
              </a:rPr>
              <a:t>  "forage_id": "F-0001",</a:t>
            </a:r>
          </a:p>
          <a:p>
            <a:pPr algn="l"/>
            <a:r>
              <a:rPr sz="1200" b="0">
                <a:solidFill>
                  <a:srgbClr val="D5DDE8"/>
                </a:solidFill>
                <a:latin typeface="Consolas"/>
              </a:rPr>
              <a:t>  "age_ans": 22,</a:t>
            </a:r>
          </a:p>
          <a:p>
            <a:pPr algn="l"/>
            <a:r>
              <a:rPr sz="1200" b="0">
                <a:solidFill>
                  <a:srgbClr val="D5DDE8"/>
                </a:solidFill>
                <a:latin typeface="Consolas"/>
              </a:rPr>
              <a:t>  "jours_depuis_maintenance": 420,</a:t>
            </a:r>
          </a:p>
          <a:p>
            <a:pPr algn="l"/>
            <a:r>
              <a:rPr sz="1200" b="0">
                <a:solidFill>
                  <a:srgbClr val="D5DDE8"/>
                </a:solidFill>
                <a:latin typeface="Consolas"/>
              </a:rPr>
              <a:t>  "pannes_12m": 2,</a:t>
            </a:r>
          </a:p>
          <a:p>
            <a:pPr algn="l"/>
            <a:r>
              <a:rPr sz="1200" b="0">
                <a:solidFill>
                  <a:srgbClr val="D5DDE8"/>
                </a:solidFill>
                <a:latin typeface="Consolas"/>
              </a:rPr>
              <a:t>  "type_pompe": "thermique", ...}]}</a:t>
            </a:r>
          </a:p>
          <a:p>
            <a:pPr algn="l"/>
            <a:r>
              <a:rPr sz="1200" b="0">
                <a:solidFill>
                  <a:srgbClr val="D5DDE8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D5DDE8"/>
                </a:solidFill>
                <a:latin typeface="Consolas"/>
              </a:rPr>
              <a:t>→ 200</a:t>
            </a:r>
          </a:p>
          <a:p>
            <a:pPr algn="l"/>
            <a:r>
              <a:rPr sz="1200" b="0">
                <a:solidFill>
                  <a:srgbClr val="D5DDE8"/>
                </a:solidFill>
                <a:latin typeface="Consolas"/>
              </a:rPr>
              <a:t>{"model_version": "20261025-00c9d345",</a:t>
            </a:r>
          </a:p>
          <a:p>
            <a:pPr algn="l"/>
            <a:r>
              <a:rPr sz="1200" b="0">
                <a:solidFill>
                  <a:srgbClr val="D5DDE8"/>
                </a:solidFill>
                <a:latin typeface="Consolas"/>
              </a:rPr>
              <a:t> "seuil": 0.2765,</a:t>
            </a:r>
          </a:p>
          <a:p>
            <a:pPr algn="l"/>
            <a:r>
              <a:rPr sz="1200" b="0">
                <a:solidFill>
                  <a:srgbClr val="D5DDE8"/>
                </a:solidFill>
                <a:latin typeface="Consolas"/>
              </a:rPr>
              <a:t> "predictions": [{"forage_id": "F-0001",</a:t>
            </a:r>
          </a:p>
          <a:p>
            <a:pPr algn="l"/>
            <a:r>
              <a:rPr sz="1200" b="0">
                <a:solidFill>
                  <a:srgbClr val="D5DDE8"/>
                </a:solidFill>
                <a:latin typeface="Consolas"/>
              </a:rPr>
              <a:t>   "probabilite_panne": 0.7455,</a:t>
            </a:r>
          </a:p>
          <a:p>
            <a:pPr algn="l"/>
            <a:r>
              <a:rPr sz="1200" b="0">
                <a:solidFill>
                  <a:srgbClr val="D5DDE8"/>
                </a:solidFill>
                <a:latin typeface="Consolas"/>
              </a:rPr>
              <a:t>   "a_visiter": true, "niveau_risque": "eleve"}]}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5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F5D8A"/>
                </a:solidFill>
                <a:latin typeface="Calibri"/>
              </a:rPr>
              <a:t>J3-J4 · TESTS ET 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D2433"/>
                </a:solidFill>
                <a:latin typeface="Calibri"/>
              </a:rPr>
              <a:t>Qualité : tests, intégration continue et garde-fou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5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291840" cy="11430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36192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F5D8A"/>
                </a:solidFill>
                <a:latin typeface="Calibri"/>
              </a:rPr>
              <a:t>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8483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475"/>
                </a:solidFill>
                <a:latin typeface="Calibri"/>
              </a:rPr>
              <a:t>tests pytest (données, métriques, pipeline, API, dérive, performance)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88920"/>
            <a:ext cx="3291840" cy="11430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862072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F5D8A"/>
                </a:solidFill>
                <a:latin typeface="Calibri"/>
              </a:rPr>
              <a:t>Reproductible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41071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475"/>
                </a:solidFill>
                <a:latin typeface="Calibri"/>
              </a:rPr>
              <a:t>la CI ré-entraîne depuis zéro et compare aux métriques livrées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114800"/>
            <a:ext cx="3291840" cy="11430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187952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D2433"/>
                </a:solidFill>
                <a:latin typeface="Calibri"/>
              </a:rPr>
              <a:t>Docker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73659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475"/>
                </a:solidFill>
                <a:latin typeface="Calibri"/>
              </a:rPr>
              <a:t>image construite, démarrée et interrogée par la CI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146304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500">
                <a:solidFill>
                  <a:srgbClr val="1D2433"/>
                </a:solidFill>
                <a:latin typeface="Calibri"/>
              </a:rPr>
              <a:t>• Garde-fou de performance : </a:t>
            </a:r>
            <a:r>
              <a:rPr sz="1500">
                <a:solidFill>
                  <a:srgbClr val="1D2433"/>
                </a:solidFill>
                <a:latin typeface="Calibri"/>
              </a:rPr>
              <a:t>la CI échoue si le modèle passe sous</a:t>
            </a:r>
          </a:p>
          <a:p>
            <a:pPr lvl="1">
              <a:spcAft>
                <a:spcPts val="400"/>
              </a:spcAft>
            </a:pPr>
            <a:r>
              <a:rPr sz="1300">
                <a:solidFill>
                  <a:srgbClr val="5B6475"/>
                </a:solidFill>
                <a:latin typeface="Calibri"/>
              </a:rPr>
              <a:t>– PR-AUC 0,55 · ROC-AUC 0,70 · rappel 0,75 · gain sur le hasard 0,15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D2433"/>
                </a:solidFill>
                <a:latin typeface="Calibri"/>
              </a:rPr>
              <a:t>• Seuils = engagements métier, pas les scores actuels : </a:t>
            </a:r>
            <a:r>
              <a:rPr sz="1500">
                <a:solidFill>
                  <a:srgbClr val="1D2433"/>
                </a:solidFill>
                <a:latin typeface="Calibri"/>
              </a:rPr>
              <a:t>marge pour la variance, blocage des régressions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D2433"/>
                </a:solidFill>
                <a:latin typeface="Calibri"/>
              </a:rPr>
              <a:t>• Tests de l'API : </a:t>
            </a:r>
            <a:r>
              <a:rPr sz="1500">
                <a:solidFill>
                  <a:srgbClr val="1D2433"/>
                </a:solidFill>
                <a:latin typeface="Calibri"/>
              </a:rPr>
              <a:t>cas valides, lots, ordre, alias, 8 entrées invalides, mode dégradé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D2433"/>
                </a:solidFill>
                <a:latin typeface="Calibri"/>
              </a:rPr>
              <a:t>• Tests des données : </a:t>
            </a:r>
            <a:r>
              <a:rPr sz="1500">
                <a:solidFill>
                  <a:srgbClr val="1D2433"/>
                </a:solidFill>
                <a:latin typeface="Calibri"/>
              </a:rPr>
              <a:t>schéma, bornes, modalités, découpage stratifié et reproductible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5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F5D8A"/>
                </a:solidFill>
                <a:latin typeface="Calibri"/>
              </a:rPr>
              <a:t>J5 · SURVEILLANCE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D2433"/>
                </a:solidFill>
                <a:latin typeface="Calibri"/>
              </a:rPr>
              <a:t>Nouveau mois : dérive détectée, décision RE-ENTRAINER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5"/>
                </a:solidFill>
                <a:latin typeface="Calibri"/>
              </a:rPr>
              <a:t>9</a:t>
            </a:r>
          </a:p>
        </p:txBody>
      </p:sp>
      <p:pic>
        <p:nvPicPr>
          <p:cNvPr id="6" name="Picture 5" descr="derive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11430000" cy="24492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343400"/>
            <a:ext cx="5760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400">
                <a:solidFill>
                  <a:srgbClr val="1D2433"/>
                </a:solidFill>
                <a:latin typeface="Calibri"/>
              </a:rPr>
              <a:t>• Dérive : </a:t>
            </a:r>
            <a:r>
              <a:rPr sz="1400">
                <a:solidFill>
                  <a:srgbClr val="1D2433"/>
                </a:solidFill>
                <a:latin typeface="Calibri"/>
              </a:rPr>
              <a:t>usagers_jour de 484 à 643 (PSI 0,39), 26 % hors plage d'entraînement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D2433"/>
                </a:solidFill>
                <a:latin typeface="Calibri"/>
              </a:rPr>
              <a:t>• Mais le modèle tient : </a:t>
            </a:r>
            <a:r>
              <a:rPr sz="1400">
                <a:solidFill>
                  <a:srgbClr val="1D2433"/>
                </a:solidFill>
                <a:latin typeface="Calibri"/>
              </a:rPr>
              <a:t>ROC-AUC 0,781, rappel 0,892, écart de calibration −0,005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343400"/>
            <a:ext cx="5486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400">
                <a:solidFill>
                  <a:srgbClr val="1D2433"/>
                </a:solidFill>
                <a:latin typeface="Calibri"/>
              </a:rPr>
              <a:t>• Champion / challenger : </a:t>
            </a:r>
            <a:r>
              <a:rPr sz="1400">
                <a:solidFill>
                  <a:srgbClr val="1D2433"/>
                </a:solidFill>
                <a:latin typeface="Calibri"/>
              </a:rPr>
              <a:t>gain de PR-AUC +0,008, IC 95 % [-0,003 ; +0,017]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D2433"/>
                </a:solidFill>
                <a:latin typeface="Calibri"/>
              </a:rPr>
              <a:t>• Seuil de promotion +0,01 non atteint : </a:t>
            </a:r>
            <a:r>
              <a:rPr sz="1400">
                <a:solidFill>
                  <a:srgbClr val="1D2433"/>
                </a:solidFill>
                <a:latin typeface="Calibri"/>
              </a:rPr>
              <a:t>champion conservé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D2433"/>
                </a:solidFill>
                <a:latin typeface="Calibri"/>
              </a:rPr>
              <a:t>• Impact : </a:t>
            </a:r>
            <a:r>
              <a:rPr sz="1400">
                <a:solidFill>
                  <a:srgbClr val="1D2433"/>
                </a:solidFill>
                <a:latin typeface="Calibri"/>
              </a:rPr>
              <a:t>72 % des forages au-dessus du seuil → prioriser par probabilité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5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F5D8A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D2433"/>
                </a:solidFill>
                <a:latin typeface="Calibri"/>
              </a:rPr>
              <a:t>Bonus, limites et prochaines étapes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5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500">
                <a:solidFill>
                  <a:srgbClr val="1D2433"/>
                </a:solidFill>
                <a:latin typeface="Calibri"/>
              </a:rPr>
              <a:t>• Tableau de bord : </a:t>
            </a:r>
            <a:r>
              <a:rPr sz="1500">
                <a:solidFill>
                  <a:srgbClr val="1D2433"/>
                </a:solidFill>
                <a:latin typeface="Calibri"/>
              </a:rPr>
              <a:t>forages classés par risque, filtres, capacité de visites réglable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D2433"/>
                </a:solidFill>
                <a:latin typeface="Calibri"/>
              </a:rPr>
              <a:t>• Registre MLflow : </a:t>
            </a:r>
            <a:r>
              <a:rPr sz="1500">
                <a:solidFill>
                  <a:srgbClr val="1D2433"/>
                </a:solidFill>
                <a:latin typeface="Calibri"/>
              </a:rPr>
              <a:t>alias champion / challenger, promotion conditionnée à un gain mesuré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D2433"/>
                </a:solidFill>
                <a:latin typeface="Calibri"/>
              </a:rPr>
              <a:t>• Règle de décision : </a:t>
            </a:r>
            <a:r>
              <a:rPr sz="1500">
                <a:solidFill>
                  <a:srgbClr val="1D2433"/>
                </a:solidFill>
                <a:latin typeface="Calibri"/>
              </a:rPr>
              <a:t>OK / SURVEILLER / RE-ENTRAINER, testée et exécutée par la 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394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500">
                <a:solidFill>
                  <a:srgbClr val="1D2433"/>
                </a:solidFill>
                <a:latin typeface="Calibri"/>
              </a:rPr>
              <a:t>• Limites : </a:t>
            </a:r>
            <a:r>
              <a:rPr sz="1500">
                <a:solidFill>
                  <a:srgbClr val="1D2433"/>
                </a:solidFill>
                <a:latin typeface="Calibri"/>
              </a:rPr>
              <a:t>données fictives, un seul mois récent étiqueté, hypothèse temporelle à confirmer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D2433"/>
                </a:solidFill>
                <a:latin typeface="Calibri"/>
              </a:rPr>
              <a:t>• Capacité : </a:t>
            </a:r>
            <a:r>
              <a:rPr sz="1500">
                <a:solidFill>
                  <a:srgbClr val="1D2433"/>
                </a:solidFill>
                <a:latin typeface="Calibri"/>
              </a:rPr>
              <a:t>au seuil actuel, trop de forages signalés pour toutes les équipes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D2433"/>
                </a:solidFill>
                <a:latin typeface="Calibri"/>
              </a:rPr>
              <a:t>• Suite : </a:t>
            </a:r>
            <a:r>
              <a:rPr sz="1500">
                <a:solidFill>
                  <a:srgbClr val="1D2433"/>
                </a:solidFill>
                <a:latin typeface="Calibri"/>
              </a:rPr>
              <a:t>dérive mensuelle planifiée (--fail-on-retrain), second mois pour le challenger, seuil fixé selon la capacité réelle de visites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475"/>
                </a:solidFill>
                <a:latin typeface="Calibri"/>
              </a:rPr>
              <a:t>Tout résultat présenté est produit par un script du dépôt : explore → train → drift → retrain → dashboard → make_slides.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