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9c795ded-0ffe-fedc-8e47-b2d704252b9a}">
          <p14:sldIdLst>
            <p14:sldId id="256"/>
          </p14:sldIdLst>
        </p14:section>
        <p14:section name="Problème" id="{43ece7cb-1c9c-3045-ebbe-d68e79db5720}">
          <p14:sldIdLst>
            <p14:sldId id="257"/>
          </p14:sldIdLst>
        </p14:section>
        <p14:section name="Jour 1" id="{e9359ca9-c02d-2abe-18f4-b98c3ceef6e4}">
          <p14:sldIdLst>
            <p14:sldId id="258"/>
          </p14:sldIdLst>
        </p14:section>
        <p14:section name="Jour 2" id="{35165888-1caa-86a5-3bc5-7c9657e8c90b}">
          <p14:sldIdLst>
            <p14:sldId id="259"/>
            <p14:sldId id="260"/>
          </p14:sldIdLst>
        </p14:section>
        <p14:section name="Industrialisation" id="{2a473421-d7aa-5bb0-0287-f48dfe6af374}">
          <p14:sldIdLst>
            <p14:sldId id="261"/>
          </p14:sldIdLst>
        </p14:section>
        <p14:section name="Jour 3" id="{9886f493-c1a4-59a5-87f7-89549ac92f91}">
          <p14:sldIdLst>
            <p14:sldId id="262"/>
          </p14:sldIdLst>
        </p14:section>
        <p14:section name="Jours 3 et 4" id="{0a6cefec-7f29-965a-62ba-fbae09b47c10}">
          <p14:sldIdLst>
            <p14:sldId id="263"/>
          </p14:sldIdLst>
        </p14:section>
        <p14:section name="Jour 5" id="{03526f1b-8437-e709-5bb1-40bba1b61bbf}">
          <p14:sldIdLst>
            <p14:sldId id="264"/>
          </p14:sldIdLst>
        </p14:section>
        <p14:section name="Conclusion" id="{dc4d393a-6330-c566-502e-df3528432ef5}">
          <p14:sldIdLst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U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82296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300" b="1" spc="200" kern="0" dirty="0">
                <a:solidFill>
                  <a:srgbClr val="1A56DB"/>
                </a:solidFill>
              </a:defRPr>
            </a:lvl1pPr>
          </a:lstStyle>
          <a:p>
            <a:pPr indent="0" marL="0">
              <a:buNone/>
            </a:pP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85800"/>
            <a:ext cx="1106424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rgbClr val="000000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69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OMBRE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82296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300" b="1" spc="200" kern="0" dirty="0">
                <a:solidFill>
                  <a:srgbClr val="5B9BFF"/>
                </a:solidFill>
              </a:defRPr>
            </a:lvl1pPr>
          </a:lstStyle>
          <a:p>
            <a:pPr indent="0" marL="0">
              <a:buNone/>
            </a:pP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85800"/>
            <a:ext cx="1106424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69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69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-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-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nneau bleu"/>
          <p:cNvSpPr/>
          <p:nvPr/>
        </p:nvSpPr>
        <p:spPr>
          <a:xfrm>
            <a:off x="8412480" y="0"/>
            <a:ext cx="3779215" cy="6858000"/>
          </a:xfrm>
          <a:prstGeom prst="rect">
            <a:avLst/>
          </a:prstGeom>
          <a:solidFill>
            <a:srgbClr val="EAF1FD"/>
          </a:solidFill>
          <a:ln w="12700">
            <a:solidFill>
              <a:srgbClr val="EAF1FD"/>
            </a:solidFill>
            <a:prstDash val="solid"/>
          </a:ln>
        </p:spPr>
      </p:sp>
      <p:sp>
        <p:nvSpPr>
          <p:cNvPr id="3" name="Chiffre 1"/>
          <p:cNvSpPr txBox="1"/>
          <p:nvPr/>
        </p:nvSpPr>
        <p:spPr>
          <a:xfrm>
            <a:off x="8869680" y="137160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1A56DB"/>
                </a:solidFill>
              </a:rPr>
              <a:t>81 %</a:t>
            </a:r>
            <a:endParaRPr lang="en-US" sz="4800" dirty="0"/>
          </a:p>
        </p:txBody>
      </p:sp>
      <p:sp>
        <p:nvSpPr>
          <p:cNvPr id="4" name="Légende 1"/>
          <p:cNvSpPr txBox="1"/>
          <p:nvPr/>
        </p:nvSpPr>
        <p:spPr>
          <a:xfrm>
            <a:off x="8869680" y="21945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des pannes détectées (rappel)</a:t>
            </a:r>
            <a:endParaRPr lang="en-US" sz="1600" dirty="0"/>
          </a:p>
        </p:txBody>
      </p:sp>
      <p:sp>
        <p:nvSpPr>
          <p:cNvPr id="5" name="Chiffre 2"/>
          <p:cNvSpPr txBox="1"/>
          <p:nvPr/>
        </p:nvSpPr>
        <p:spPr>
          <a:xfrm>
            <a:off x="8869680" y="306324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1A56DB"/>
                </a:solidFill>
              </a:rPr>
              <a:t>0,606</a:t>
            </a:r>
            <a:endParaRPr lang="en-US" sz="4800" dirty="0"/>
          </a:p>
        </p:txBody>
      </p:sp>
      <p:sp>
        <p:nvSpPr>
          <p:cNvPr id="6" name="Légende 2"/>
          <p:cNvSpPr txBox="1"/>
          <p:nvPr/>
        </p:nvSpPr>
        <p:spPr>
          <a:xfrm>
            <a:off x="8869680" y="38862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PR-AUC sur le jeu de test</a:t>
            </a:r>
            <a:endParaRPr lang="en-US" sz="1600" dirty="0"/>
          </a:p>
        </p:txBody>
      </p:sp>
      <p:sp>
        <p:nvSpPr>
          <p:cNvPr id="7" name="Chiffre 3"/>
          <p:cNvSpPr txBox="1"/>
          <p:nvPr/>
        </p:nvSpPr>
        <p:spPr>
          <a:xfrm>
            <a:off x="8869680" y="475488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1A56DB"/>
                </a:solidFill>
              </a:rPr>
              <a:t>43</a:t>
            </a:r>
            <a:endParaRPr lang="en-US" sz="4800" dirty="0"/>
          </a:p>
        </p:txBody>
      </p:sp>
      <p:sp>
        <p:nvSpPr>
          <p:cNvPr id="8" name="Légende 3"/>
          <p:cNvSpPr txBox="1"/>
          <p:nvPr/>
        </p:nvSpPr>
        <p:spPr>
          <a:xfrm>
            <a:off x="8869680" y="55778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tests automatisés</a:t>
            </a:r>
            <a:endParaRPr lang="en-US" sz="1600" dirty="0"/>
          </a:p>
        </p:txBody>
      </p:sp>
      <p:sp>
        <p:nvSpPr>
          <p:cNvPr id="9" name="Tag"/>
          <p:cNvSpPr txBox="1"/>
          <p:nvPr/>
        </p:nvSpPr>
        <p:spPr>
          <a:xfrm>
            <a:off x="731520" y="10972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A56DB"/>
                </a:solidFill>
              </a:rPr>
              <a:t>PROJET DE FIN DE COURS · APPRENTISSAGE AUTOMATIQUE APPLIQUÉ À LA PRODUCTION</a:t>
            </a:r>
            <a:endParaRPr lang="en-US" sz="1300" dirty="0"/>
          </a:p>
        </p:txBody>
      </p:sp>
      <p:sp>
        <p:nvSpPr>
          <p:cNvPr id="10" name="Titre"/>
          <p:cNvSpPr txBox="1"/>
          <p:nvPr/>
        </p:nvSpPr>
        <p:spPr>
          <a:xfrm>
            <a:off x="731520" y="1828800"/>
            <a:ext cx="7406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200" b="1" dirty="0">
                <a:solidFill>
                  <a:srgbClr val="000000"/>
                </a:solidFill>
              </a:rPr>
              <a:t>Du modèle à la production :</a:t>
            </a:r>
            <a:endParaRPr lang="en-US" sz="4200" dirty="0"/>
          </a:p>
          <a:p>
            <a:pPr indent="0" marL="0">
              <a:buNone/>
            </a:pPr>
            <a:r>
              <a:rPr lang="en-US" sz="4200" b="1" dirty="0">
                <a:solidFill>
                  <a:srgbClr val="1A56DB"/>
                </a:solidFill>
              </a:rPr>
              <a:t>prédire les pannes de forages</a:t>
            </a:r>
            <a:endParaRPr lang="en-US" sz="4200" dirty="0"/>
          </a:p>
        </p:txBody>
      </p:sp>
      <p:sp>
        <p:nvSpPr>
          <p:cNvPr id="11" name="Sous-titre"/>
          <p:cNvSpPr txBox="1"/>
          <p:nvPr/>
        </p:nvSpPr>
        <p:spPr>
          <a:xfrm>
            <a:off x="731520" y="3749040"/>
            <a:ext cx="7132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3A4A63"/>
                </a:solidFill>
              </a:rPr>
              <a:t>Un service de prédiction tracé, testé, conteneurisé et surveillé, pour planifier les visites préventives des équipes de maintenance.</a:t>
            </a:r>
            <a:endParaRPr lang="en-US" sz="1800" dirty="0"/>
          </a:p>
        </p:txBody>
      </p:sp>
      <p:sp>
        <p:nvSpPr>
          <p:cNvPr id="12" name="Auteurs"/>
          <p:cNvSpPr txBox="1"/>
          <p:nvPr/>
        </p:nvSpPr>
        <p:spPr>
          <a:xfrm>
            <a:off x="731520" y="530352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000000"/>
                </a:solidFill>
              </a:rPr>
              <a:t>Groupe : Muhammed Ramadane KOMI · Amir DRABO · Mohamed KABORE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000000"/>
                </a:solidFill>
              </a:rPr>
              <a:t>Enseignant : Dr TIEMTORE Souleymane · octobre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A56DB"/>
                </a:solidFill>
              </a:rPr>
              <a:t>PROBLÈME ET MÉTRIQUE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858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00000"/>
                </a:solidFill>
              </a:rPr>
              <a:t>Le besoin : savoir quels forages visiter avant la panne</a:t>
            </a:r>
            <a:endParaRPr lang="en-US" sz="3200" dirty="0"/>
          </a:p>
        </p:txBody>
      </p:sp>
      <p:sp>
        <p:nvSpPr>
          <p:cNvPr id="4" name="Constats"/>
          <p:cNvSpPr txBox="1"/>
          <p:nvPr/>
        </p:nvSpPr>
        <p:spPr>
          <a:xfrm>
            <a:off x="548640" y="1691640"/>
            <a:ext cx="594360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</a:rPr>
              <a:t>Données : 3 000 forages historiques, 600 forages d'un mois récent</a:t>
            </a:r>
            <a:endParaRPr lang="en-US" sz="1700" dirty="0"/>
          </a:p>
          <a:p>
            <a:pPr lvl="1" marL="406400" indent="-2032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3A4A63"/>
                </a:solidFill>
              </a:rPr>
              <a:t>8 variables : âge, profondeur, débit, usagers, maintenance, pannes passées, pompe, région</a:t>
            </a:r>
            <a:endParaRPr lang="en-US" sz="17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</a:rPr>
              <a:t>Cible : panne dans les 90 jours (36 % des forages)</a:t>
            </a:r>
            <a:endParaRPr lang="en-US" sz="17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</a:rPr>
              <a:t>Piège : un modèle qui ne prédit jamais de panne a 64 % d'accuracy</a:t>
            </a:r>
            <a:endParaRPr lang="en-US" sz="17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</a:rPr>
              <a:t>Coût asymétrique : rater une panne = des semaines sans eau ; visite inutile = une journée d'équipe</a:t>
            </a:r>
            <a:endParaRPr lang="en-US" sz="1700" dirty="0"/>
          </a:p>
        </p:txBody>
      </p:sp>
      <p:sp>
        <p:nvSpPr>
          <p:cNvPr id="5" name="Carte 1"/>
          <p:cNvSpPr/>
          <p:nvPr/>
        </p:nvSpPr>
        <p:spPr>
          <a:xfrm>
            <a:off x="6949440" y="1691640"/>
            <a:ext cx="4690872" cy="1280160"/>
          </a:xfrm>
          <a:prstGeom prst="roundRect">
            <a:avLst>
              <a:gd name="adj" fmla="val 8571"/>
            </a:avLst>
          </a:prstGeom>
          <a:solidFill>
            <a:srgbClr val="EAF1FD"/>
          </a:solidFill>
          <a:ln w="12700">
            <a:solidFill>
              <a:srgbClr val="EAF1FD"/>
            </a:solidFill>
            <a:prstDash val="solid"/>
          </a:ln>
        </p:spPr>
      </p:sp>
      <p:sp>
        <p:nvSpPr>
          <p:cNvPr id="6" name="Métrique 1"/>
          <p:cNvSpPr txBox="1"/>
          <p:nvPr/>
        </p:nvSpPr>
        <p:spPr>
          <a:xfrm>
            <a:off x="7178040" y="1801368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56DB"/>
                </a:solidFill>
              </a:rPr>
              <a:t>PR-AUC</a:t>
            </a:r>
            <a:endParaRPr lang="en-US" sz="2400" dirty="0"/>
          </a:p>
        </p:txBody>
      </p:sp>
      <p:sp>
        <p:nvSpPr>
          <p:cNvPr id="7" name="Détail 1"/>
          <p:cNvSpPr txBox="1"/>
          <p:nvPr/>
        </p:nvSpPr>
        <p:spPr>
          <a:xfrm>
            <a:off x="7178040" y="2286000"/>
            <a:ext cx="4251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métrique de sélection : qualité du classement des forages par risque</a:t>
            </a:r>
            <a:endParaRPr lang="en-US" sz="1400" dirty="0"/>
          </a:p>
        </p:txBody>
      </p:sp>
      <p:sp>
        <p:nvSpPr>
          <p:cNvPr id="8" name="Carte 2"/>
          <p:cNvSpPr/>
          <p:nvPr/>
        </p:nvSpPr>
        <p:spPr>
          <a:xfrm>
            <a:off x="6949440" y="3172968"/>
            <a:ext cx="4690872" cy="1280160"/>
          </a:xfrm>
          <a:prstGeom prst="roundRect">
            <a:avLst>
              <a:gd name="adj" fmla="val 8571"/>
            </a:avLst>
          </a:prstGeom>
          <a:solidFill>
            <a:srgbClr val="EAF1FD"/>
          </a:solidFill>
          <a:ln w="12700">
            <a:solidFill>
              <a:srgbClr val="EAF1FD"/>
            </a:solidFill>
            <a:prstDash val="solid"/>
          </a:ln>
        </p:spPr>
      </p:sp>
      <p:sp>
        <p:nvSpPr>
          <p:cNvPr id="9" name="Métrique 2"/>
          <p:cNvSpPr txBox="1"/>
          <p:nvPr/>
        </p:nvSpPr>
        <p:spPr>
          <a:xfrm>
            <a:off x="7178040" y="3282696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56DB"/>
                </a:solidFill>
              </a:rPr>
              <a:t>rappel ≥ 80 %</a:t>
            </a:r>
            <a:endParaRPr lang="en-US" sz="2400" dirty="0"/>
          </a:p>
        </p:txBody>
      </p:sp>
      <p:sp>
        <p:nvSpPr>
          <p:cNvPr id="10" name="Détail 2"/>
          <p:cNvSpPr txBox="1"/>
          <p:nvPr/>
        </p:nvSpPr>
        <p:spPr>
          <a:xfrm>
            <a:off x="7178040" y="3767328"/>
            <a:ext cx="4251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le seuil de décision est fixé pour ne pas rater plus d'une panne sur cinq</a:t>
            </a:r>
            <a:endParaRPr lang="en-US" sz="1400" dirty="0"/>
          </a:p>
        </p:txBody>
      </p:sp>
      <p:sp>
        <p:nvSpPr>
          <p:cNvPr id="11" name="Carte 3"/>
          <p:cNvSpPr/>
          <p:nvPr/>
        </p:nvSpPr>
        <p:spPr>
          <a:xfrm>
            <a:off x="6949440" y="4654296"/>
            <a:ext cx="4690872" cy="1280160"/>
          </a:xfrm>
          <a:prstGeom prst="roundRect">
            <a:avLst>
              <a:gd name="adj" fmla="val 8571"/>
            </a:avLst>
          </a:prstGeom>
          <a:solidFill>
            <a:srgbClr val="EAF1FD"/>
          </a:solidFill>
          <a:ln w="12700">
            <a:solidFill>
              <a:srgbClr val="EAF1FD"/>
            </a:solidFill>
            <a:prstDash val="solid"/>
          </a:ln>
        </p:spPr>
      </p:sp>
      <p:sp>
        <p:nvSpPr>
          <p:cNvPr id="12" name="Métrique 3"/>
          <p:cNvSpPr txBox="1"/>
          <p:nvPr/>
        </p:nvSpPr>
        <p:spPr>
          <a:xfrm>
            <a:off x="7178040" y="4764024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56DB"/>
                </a:solidFill>
              </a:rPr>
              <a:t>précision, F2, Brier</a:t>
            </a:r>
            <a:endParaRPr lang="en-US" sz="2400" dirty="0"/>
          </a:p>
        </p:txBody>
      </p:sp>
      <p:sp>
        <p:nvSpPr>
          <p:cNvPr id="13" name="Détail 3"/>
          <p:cNvSpPr txBox="1"/>
          <p:nvPr/>
        </p:nvSpPr>
        <p:spPr>
          <a:xfrm>
            <a:off x="7178040" y="5248656"/>
            <a:ext cx="4251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suivis en complément : charge de visites inutiles et calibration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69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A56DB"/>
                </a:solidFill>
              </a:rPr>
              <a:t>J1 · DONNÉES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858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00000"/>
                </a:solidFill>
              </a:rPr>
              <a:t>Exploration : des signaux modestes, pas de fuite</a:t>
            </a:r>
            <a:endParaRPr lang="en-US" sz="3200" dirty="0"/>
          </a:p>
        </p:txBody>
      </p:sp>
      <p:pic>
        <p:nvPicPr>
          <p:cNvPr id="4" name="Histogrammes" descr="Distribution des variables selon la panne à 90 jour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00200"/>
            <a:ext cx="6766560" cy="3642970"/>
          </a:xfrm>
          <a:prstGeom prst="rect">
            <a:avLst/>
          </a:prstGeom>
        </p:spPr>
      </p:pic>
      <p:sp>
        <p:nvSpPr>
          <p:cNvPr id="5" name="Alerte métier"/>
          <p:cNvSpPr/>
          <p:nvPr/>
        </p:nvSpPr>
        <p:spPr>
          <a:xfrm>
            <a:off x="548640" y="5440680"/>
            <a:ext cx="6766560" cy="777240"/>
          </a:xfrm>
          <a:prstGeom prst="roundRect">
            <a:avLst>
              <a:gd name="adj" fmla="val 14118"/>
            </a:avLst>
          </a:prstGeom>
          <a:solidFill>
            <a:srgbClr val="EAF1FD"/>
          </a:solidFill>
          <a:ln w="12700">
            <a:solidFill>
              <a:srgbClr val="EAF1FD"/>
            </a:solidFill>
            <a:prstDash val="solid"/>
          </a:ln>
        </p:spPr>
      </p:sp>
      <p:sp>
        <p:nvSpPr>
          <p:cNvPr id="6" name="Texte alerte"/>
          <p:cNvSpPr txBox="1"/>
          <p:nvPr/>
        </p:nvSpPr>
        <p:spPr>
          <a:xfrm>
            <a:off x="731520" y="5440680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À valider avec le métier : pannes_12m et maintenance mesurées avant la fenêtre de 90 jours</a:t>
            </a:r>
            <a:endParaRPr lang="en-US" sz="1400" dirty="0"/>
          </a:p>
        </p:txBody>
      </p:sp>
      <p:sp>
        <p:nvSpPr>
          <p:cNvPr id="7" name="Titre AUC"/>
          <p:cNvSpPr txBox="1"/>
          <p:nvPr/>
        </p:nvSpPr>
        <p:spPr>
          <a:xfrm>
            <a:off x="7772400" y="1600200"/>
            <a:ext cx="3867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</a:rPr>
              <a:t>Variables les plus liées à la panne (AUC seule)</a:t>
            </a:r>
            <a:endParaRPr lang="en-US" sz="1600" dirty="0"/>
          </a:p>
        </p:txBody>
      </p:sp>
      <p:sp>
        <p:nvSpPr>
          <p:cNvPr id="8" name="Ligne AUC 1"/>
          <p:cNvSpPr/>
          <p:nvPr/>
        </p:nvSpPr>
        <p:spPr>
          <a:xfrm>
            <a:off x="7772400" y="2240280"/>
            <a:ext cx="3867912" cy="475488"/>
          </a:xfrm>
          <a:prstGeom prst="roundRect">
            <a:avLst>
              <a:gd name="adj" fmla="val 23077"/>
            </a:avLst>
          </a:prstGeom>
          <a:solidFill>
            <a:srgbClr val="EAF1FD"/>
          </a:solidFill>
          <a:ln w="12700">
            <a:solidFill>
              <a:srgbClr val="EAF1FD"/>
            </a:solidFill>
            <a:prstDash val="solid"/>
          </a:ln>
        </p:spPr>
      </p:sp>
      <p:sp>
        <p:nvSpPr>
          <p:cNvPr id="9" name="Variable 1"/>
          <p:cNvSpPr txBox="1"/>
          <p:nvPr/>
        </p:nvSpPr>
        <p:spPr>
          <a:xfrm>
            <a:off x="7909560" y="2240280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age_ans</a:t>
            </a:r>
            <a:endParaRPr lang="en-US" sz="1400" dirty="0"/>
          </a:p>
        </p:txBody>
      </p:sp>
      <p:sp>
        <p:nvSpPr>
          <p:cNvPr id="10" name="AUC 1"/>
          <p:cNvSpPr txBox="1"/>
          <p:nvPr/>
        </p:nvSpPr>
        <p:spPr>
          <a:xfrm>
            <a:off x="10607040" y="2240280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1A56DB"/>
                </a:solidFill>
              </a:rPr>
              <a:t>0,64</a:t>
            </a:r>
            <a:endParaRPr lang="en-US" sz="1800" dirty="0"/>
          </a:p>
        </p:txBody>
      </p:sp>
      <p:sp>
        <p:nvSpPr>
          <p:cNvPr id="11" name="Ligne AUC 2"/>
          <p:cNvSpPr/>
          <p:nvPr/>
        </p:nvSpPr>
        <p:spPr>
          <a:xfrm>
            <a:off x="7772400" y="2807208"/>
            <a:ext cx="3867912" cy="475488"/>
          </a:xfrm>
          <a:prstGeom prst="roundRect">
            <a:avLst>
              <a:gd name="adj" fmla="val 23077"/>
            </a:avLst>
          </a:prstGeom>
          <a:solidFill>
            <a:srgbClr val="EAF1FD"/>
          </a:solidFill>
          <a:ln w="12700">
            <a:solidFill>
              <a:srgbClr val="EAF1FD"/>
            </a:solidFill>
            <a:prstDash val="solid"/>
          </a:ln>
        </p:spPr>
      </p:sp>
      <p:sp>
        <p:nvSpPr>
          <p:cNvPr id="12" name="Variable 2"/>
          <p:cNvSpPr txBox="1"/>
          <p:nvPr/>
        </p:nvSpPr>
        <p:spPr>
          <a:xfrm>
            <a:off x="7909560" y="280720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jours_depuis_maintenance</a:t>
            </a:r>
            <a:endParaRPr lang="en-US" sz="1400" dirty="0"/>
          </a:p>
        </p:txBody>
      </p:sp>
      <p:sp>
        <p:nvSpPr>
          <p:cNvPr id="13" name="AUC 2"/>
          <p:cNvSpPr txBox="1"/>
          <p:nvPr/>
        </p:nvSpPr>
        <p:spPr>
          <a:xfrm>
            <a:off x="10607040" y="2807208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1A56DB"/>
                </a:solidFill>
              </a:rPr>
              <a:t>0,62</a:t>
            </a:r>
            <a:endParaRPr lang="en-US" sz="1800" dirty="0"/>
          </a:p>
        </p:txBody>
      </p:sp>
      <p:sp>
        <p:nvSpPr>
          <p:cNvPr id="14" name="Ligne AUC 3"/>
          <p:cNvSpPr/>
          <p:nvPr/>
        </p:nvSpPr>
        <p:spPr>
          <a:xfrm>
            <a:off x="7772400" y="3374136"/>
            <a:ext cx="3867912" cy="475488"/>
          </a:xfrm>
          <a:prstGeom prst="roundRect">
            <a:avLst>
              <a:gd name="adj" fmla="val 23077"/>
            </a:avLst>
          </a:prstGeom>
          <a:solidFill>
            <a:srgbClr val="EAF1FD"/>
          </a:solidFill>
          <a:ln w="12700">
            <a:solidFill>
              <a:srgbClr val="EAF1FD"/>
            </a:solidFill>
            <a:prstDash val="solid"/>
          </a:ln>
        </p:spPr>
      </p:sp>
      <p:sp>
        <p:nvSpPr>
          <p:cNvPr id="15" name="Variable 3"/>
          <p:cNvSpPr txBox="1"/>
          <p:nvPr/>
        </p:nvSpPr>
        <p:spPr>
          <a:xfrm>
            <a:off x="7909560" y="3374136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pannes_12m</a:t>
            </a:r>
            <a:endParaRPr lang="en-US" sz="1400" dirty="0"/>
          </a:p>
        </p:txBody>
      </p:sp>
      <p:sp>
        <p:nvSpPr>
          <p:cNvPr id="16" name="AUC 3"/>
          <p:cNvSpPr txBox="1"/>
          <p:nvPr/>
        </p:nvSpPr>
        <p:spPr>
          <a:xfrm>
            <a:off x="10607040" y="3374136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1A56DB"/>
                </a:solidFill>
              </a:rPr>
              <a:t>0,61</a:t>
            </a:r>
            <a:endParaRPr lang="en-US" sz="1800" dirty="0"/>
          </a:p>
        </p:txBody>
      </p:sp>
      <p:sp>
        <p:nvSpPr>
          <p:cNvPr id="17" name="Ligne AUC 4"/>
          <p:cNvSpPr/>
          <p:nvPr/>
        </p:nvSpPr>
        <p:spPr>
          <a:xfrm>
            <a:off x="7772400" y="3941064"/>
            <a:ext cx="3867912" cy="475488"/>
          </a:xfrm>
          <a:prstGeom prst="roundRect">
            <a:avLst>
              <a:gd name="adj" fmla="val 23077"/>
            </a:avLst>
          </a:prstGeom>
          <a:solidFill>
            <a:srgbClr val="EAF1FD"/>
          </a:solidFill>
          <a:ln w="12700">
            <a:solidFill>
              <a:srgbClr val="EAF1FD"/>
            </a:solidFill>
            <a:prstDash val="solid"/>
          </a:ln>
        </p:spPr>
      </p:sp>
      <p:sp>
        <p:nvSpPr>
          <p:cNvPr id="18" name="Variable 4"/>
          <p:cNvSpPr txBox="1"/>
          <p:nvPr/>
        </p:nvSpPr>
        <p:spPr>
          <a:xfrm>
            <a:off x="7909560" y="3941064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usagers_jour</a:t>
            </a:r>
            <a:endParaRPr lang="en-US" sz="1400" dirty="0"/>
          </a:p>
        </p:txBody>
      </p:sp>
      <p:sp>
        <p:nvSpPr>
          <p:cNvPr id="19" name="AUC 4"/>
          <p:cNvSpPr txBox="1"/>
          <p:nvPr/>
        </p:nvSpPr>
        <p:spPr>
          <a:xfrm>
            <a:off x="10607040" y="3941064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1A56DB"/>
                </a:solidFill>
              </a:rPr>
              <a:t>0,58</a:t>
            </a:r>
            <a:endParaRPr lang="en-US" sz="1800" dirty="0"/>
          </a:p>
        </p:txBody>
      </p:sp>
      <p:sp>
        <p:nvSpPr>
          <p:cNvPr id="20" name="Constats"/>
          <p:cNvSpPr txBox="1"/>
          <p:nvPr/>
        </p:nvSpPr>
        <p:spPr>
          <a:xfrm>
            <a:off x="7772400" y="4617720"/>
            <a:ext cx="386791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Aucune variable ne sépare presque parfaitement les classes : pas de fuite évidente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Prétraitement dans le pipeline, test isolé de la sélection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69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A56DB"/>
                </a:solidFill>
              </a:rPr>
              <a:t>J2 · MODÈLE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858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00000"/>
                </a:solidFill>
              </a:rPr>
              <a:t>6 essais suivis dans MLflow, le plus simple l'emporte</a:t>
            </a:r>
            <a:endParaRPr lang="en-US" sz="3200" dirty="0"/>
          </a:p>
        </p:txBody>
      </p:sp>
      <p:graphicFrame>
        <p:nvGraphicFramePr>
          <p:cNvPr id="5" name="Tableau des modèle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704088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371600"/>
                <a:gridCol w="1188720"/>
                <a:gridCol w="1097280"/>
                <a:gridCol w="1097280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Modèle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PR-AUC CV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PR-AUC test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Rappel test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Brier test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6D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logreg_balanced_c0.3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0,652 ± 0,027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0,606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0,807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0,203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A56D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logreg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A56D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0,651 ± 0,027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A56D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0,606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A56D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0,807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A56D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0,192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D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logreg_splines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0,645 ± 0,026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0,602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0,812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0,194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hist_gradient_boosting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0,622 ± 0,028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0,585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0,844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0,198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random_forest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0,615 ± 0,031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0,582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0,835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0,203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dummy_prior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0,362 ± 0,000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0,363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0,231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Légende tableau"/>
          <p:cNvSpPr txBox="1"/>
          <p:nvPr/>
        </p:nvSpPr>
        <p:spPr>
          <a:xfrm>
            <a:off x="548640" y="5669280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4A63"/>
                </a:solidFill>
              </a:rPr>
              <a:t>Ligne en gras : modèle retenu</a:t>
            </a:r>
            <a:endParaRPr lang="en-US" sz="1200" dirty="0"/>
          </a:p>
        </p:txBody>
      </p:sp>
      <p:sp>
        <p:nvSpPr>
          <p:cNvPr id="6" name="Carte retenu"/>
          <p:cNvSpPr/>
          <p:nvPr/>
        </p:nvSpPr>
        <p:spPr>
          <a:xfrm>
            <a:off x="8046720" y="1645920"/>
            <a:ext cx="3593592" cy="868680"/>
          </a:xfrm>
          <a:prstGeom prst="roundRect">
            <a:avLst>
              <a:gd name="adj" fmla="val 12632"/>
            </a:avLst>
          </a:prstGeom>
          <a:solidFill>
            <a:srgbClr val="EAF1FD"/>
          </a:solidFill>
          <a:ln w="12700">
            <a:solidFill>
              <a:srgbClr val="EAF1FD"/>
            </a:solidFill>
            <a:prstDash val="solid"/>
          </a:ln>
        </p:spPr>
      </p:sp>
      <p:sp>
        <p:nvSpPr>
          <p:cNvPr id="7" name="Texte retenu"/>
          <p:cNvSpPr txBox="1"/>
          <p:nvPr/>
        </p:nvSpPr>
        <p:spPr>
          <a:xfrm>
            <a:off x="8229600" y="164592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56DB"/>
                </a:solidFill>
              </a:rPr>
              <a:t>Retenu : logreg</a:t>
            </a:r>
            <a:endParaRPr lang="en-US" sz="20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régression logistique</a:t>
            </a:r>
            <a:endParaRPr lang="en-US" sz="2000" dirty="0"/>
          </a:p>
        </p:txBody>
      </p:sp>
      <p:sp>
        <p:nvSpPr>
          <p:cNvPr id="8" name="Arguments"/>
          <p:cNvSpPr txBox="1"/>
          <p:nvPr/>
        </p:nvSpPr>
        <p:spPr>
          <a:xfrm>
            <a:off x="8046720" y="2743200"/>
            <a:ext cx="359359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Règle : meilleure PR-AUC en validation croisée ; à 0,005 près, le plus simple gagne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Les arbres et les splines n'apportent rien : relation quasi linéaire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Logistique : lisible et la mieux calibrée (Brier 0,192)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Registre MLflow : forages-panne-90j v1, alias « champion »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69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A56DB"/>
                </a:solidFill>
              </a:rPr>
              <a:t>J2 · PERFORMANCE SUR LE TEST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858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00000"/>
                </a:solidFill>
              </a:rPr>
              <a:t>Sur 100 pannes à venir, le modèle en signale 81</a:t>
            </a:r>
            <a:endParaRPr lang="en-US" sz="3200" dirty="0"/>
          </a:p>
        </p:txBody>
      </p:sp>
      <p:sp>
        <p:nvSpPr>
          <p:cNvPr id="4" name="Carte 1"/>
          <p:cNvSpPr/>
          <p:nvPr/>
        </p:nvSpPr>
        <p:spPr>
          <a:xfrm>
            <a:off x="548640" y="1600200"/>
            <a:ext cx="2743200" cy="1051560"/>
          </a:xfrm>
          <a:prstGeom prst="roundRect">
            <a:avLst>
              <a:gd name="adj" fmla="val 10435"/>
            </a:avLst>
          </a:prstGeom>
          <a:solidFill>
            <a:srgbClr val="EAF1FD"/>
          </a:solidFill>
          <a:ln w="12700">
            <a:solidFill>
              <a:srgbClr val="EAF1FD"/>
            </a:solidFill>
            <a:prstDash val="solid"/>
          </a:ln>
        </p:spPr>
      </p:sp>
      <p:sp>
        <p:nvSpPr>
          <p:cNvPr id="5" name="Valeur 1"/>
          <p:cNvSpPr txBox="1"/>
          <p:nvPr/>
        </p:nvSpPr>
        <p:spPr>
          <a:xfrm>
            <a:off x="731520" y="1673352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56DB"/>
                </a:solidFill>
              </a:rPr>
              <a:t>0,606</a:t>
            </a:r>
            <a:endParaRPr lang="en-US" sz="3200" dirty="0"/>
          </a:p>
        </p:txBody>
      </p:sp>
      <p:sp>
        <p:nvSpPr>
          <p:cNvPr id="6" name="Libellé 1"/>
          <p:cNvSpPr txBox="1"/>
          <p:nvPr/>
        </p:nvSpPr>
        <p:spPr>
          <a:xfrm>
            <a:off x="731520" y="2221992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PR-AUC test (hasard : 0,362)</a:t>
            </a:r>
            <a:endParaRPr lang="en-US" sz="1300" dirty="0"/>
          </a:p>
        </p:txBody>
      </p:sp>
      <p:sp>
        <p:nvSpPr>
          <p:cNvPr id="7" name="Carte 2"/>
          <p:cNvSpPr/>
          <p:nvPr/>
        </p:nvSpPr>
        <p:spPr>
          <a:xfrm>
            <a:off x="548640" y="2788920"/>
            <a:ext cx="2743200" cy="1051560"/>
          </a:xfrm>
          <a:prstGeom prst="roundRect">
            <a:avLst>
              <a:gd name="adj" fmla="val 10435"/>
            </a:avLst>
          </a:prstGeom>
          <a:solidFill>
            <a:srgbClr val="EAF1FD"/>
          </a:solidFill>
          <a:ln w="12700">
            <a:solidFill>
              <a:srgbClr val="EAF1FD"/>
            </a:solidFill>
            <a:prstDash val="solid"/>
          </a:ln>
        </p:spPr>
      </p:sp>
      <p:sp>
        <p:nvSpPr>
          <p:cNvPr id="8" name="Valeur 2"/>
          <p:cNvSpPr txBox="1"/>
          <p:nvPr/>
        </p:nvSpPr>
        <p:spPr>
          <a:xfrm>
            <a:off x="731520" y="2862072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56DB"/>
                </a:solidFill>
              </a:rPr>
              <a:t>81 %</a:t>
            </a:r>
            <a:endParaRPr lang="en-US" sz="3200" dirty="0"/>
          </a:p>
        </p:txBody>
      </p:sp>
      <p:sp>
        <p:nvSpPr>
          <p:cNvPr id="9" name="Libellé 2"/>
          <p:cNvSpPr txBox="1"/>
          <p:nvPr/>
        </p:nvSpPr>
        <p:spPr>
          <a:xfrm>
            <a:off x="731520" y="3410712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rappel : pannes détectées</a:t>
            </a:r>
            <a:endParaRPr lang="en-US" sz="1300" dirty="0"/>
          </a:p>
        </p:txBody>
      </p:sp>
      <p:sp>
        <p:nvSpPr>
          <p:cNvPr id="10" name="Carte 3"/>
          <p:cNvSpPr/>
          <p:nvPr/>
        </p:nvSpPr>
        <p:spPr>
          <a:xfrm>
            <a:off x="548640" y="3977640"/>
            <a:ext cx="2743200" cy="1051560"/>
          </a:xfrm>
          <a:prstGeom prst="roundRect">
            <a:avLst>
              <a:gd name="adj" fmla="val 10435"/>
            </a:avLst>
          </a:prstGeom>
          <a:solidFill>
            <a:srgbClr val="EAF1FD"/>
          </a:solidFill>
          <a:ln w="12700">
            <a:solidFill>
              <a:srgbClr val="EAF1FD"/>
            </a:solidFill>
            <a:prstDash val="solid"/>
          </a:ln>
        </p:spPr>
      </p:sp>
      <p:sp>
        <p:nvSpPr>
          <p:cNvPr id="11" name="Valeur 3"/>
          <p:cNvSpPr txBox="1"/>
          <p:nvPr/>
        </p:nvSpPr>
        <p:spPr>
          <a:xfrm>
            <a:off x="731520" y="4050792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56DB"/>
                </a:solidFill>
              </a:rPr>
              <a:t>51 %</a:t>
            </a:r>
            <a:endParaRPr lang="en-US" sz="3200" dirty="0"/>
          </a:p>
        </p:txBody>
      </p:sp>
      <p:sp>
        <p:nvSpPr>
          <p:cNvPr id="12" name="Libellé 3"/>
          <p:cNvSpPr txBox="1"/>
          <p:nvPr/>
        </p:nvSpPr>
        <p:spPr>
          <a:xfrm>
            <a:off x="731520" y="4599432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précision : visites utiles</a:t>
            </a:r>
            <a:endParaRPr lang="en-US" sz="1300" dirty="0"/>
          </a:p>
        </p:txBody>
      </p:sp>
      <p:pic>
        <p:nvPicPr>
          <p:cNvPr id="13" name="Courbes PR" descr="Courbes précision-rappe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11880" y="1554480"/>
            <a:ext cx="4206240" cy="3235147"/>
          </a:xfrm>
          <a:prstGeom prst="rect">
            <a:avLst/>
          </a:prstGeom>
        </p:spPr>
      </p:pic>
      <p:pic>
        <p:nvPicPr>
          <p:cNvPr id="14" name="Importance" descr="Importance par permutati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1554480"/>
            <a:ext cx="3547872" cy="2183587"/>
          </a:xfrm>
          <a:prstGeom prst="rect">
            <a:avLst/>
          </a:prstGeom>
        </p:spPr>
      </p:pic>
      <p:sp>
        <p:nvSpPr>
          <p:cNvPr id="15" name="Carte seuil"/>
          <p:cNvSpPr/>
          <p:nvPr/>
        </p:nvSpPr>
        <p:spPr>
          <a:xfrm>
            <a:off x="548640" y="5212080"/>
            <a:ext cx="11091672" cy="822960"/>
          </a:xfrm>
          <a:prstGeom prst="roundRect">
            <a:avLst>
              <a:gd name="adj" fmla="val 13333"/>
            </a:avLst>
          </a:prstGeom>
          <a:solidFill>
            <a:srgbClr val="EAF1FD"/>
          </a:solidFill>
          <a:ln w="12700">
            <a:solidFill>
              <a:srgbClr val="EAF1FD"/>
            </a:solidFill>
            <a:prstDash val="solid"/>
          </a:ln>
        </p:spPr>
      </p:sp>
      <p:sp>
        <p:nvSpPr>
          <p:cNvPr id="16" name="Seuil"/>
          <p:cNvSpPr txBox="1"/>
          <p:nvPr/>
        </p:nvSpPr>
        <p:spPr>
          <a:xfrm>
            <a:off x="822960" y="52120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Seuil de décision 0,276, choisi en validation croisée et appliqué tel quel au jeu de test.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69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A56DB"/>
                </a:solidFill>
              </a:rPr>
              <a:t>INDUSTRIALISATION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858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00000"/>
                </a:solidFill>
              </a:rPr>
              <a:t>Architecture : du CSV au service surveillé</a:t>
            </a:r>
            <a:endParaRPr lang="en-US" sz="3200" dirty="0"/>
          </a:p>
        </p:txBody>
      </p:sp>
      <p:sp>
        <p:nvSpPr>
          <p:cNvPr id="4" name="Bloc Données"/>
          <p:cNvSpPr/>
          <p:nvPr/>
        </p:nvSpPr>
        <p:spPr>
          <a:xfrm>
            <a:off x="548640" y="1600200"/>
            <a:ext cx="2450592" cy="914400"/>
          </a:xfrm>
          <a:prstGeom prst="roundRect">
            <a:avLst>
              <a:gd name="adj" fmla="val 10000"/>
            </a:avLst>
          </a:prstGeom>
          <a:solidFill>
            <a:srgbClr val="EAF1FD"/>
          </a:solidFill>
          <a:ln w="15875">
            <a:solidFill>
              <a:srgbClr val="1A56DB"/>
            </a:solidFill>
            <a:prstDash val="solid"/>
          </a:ln>
        </p:spPr>
      </p:sp>
      <p:sp>
        <p:nvSpPr>
          <p:cNvPr id="5" name="Texte Données"/>
          <p:cNvSpPr txBox="1"/>
          <p:nvPr/>
        </p:nvSpPr>
        <p:spPr>
          <a:xfrm>
            <a:off x="640080" y="1600200"/>
            <a:ext cx="22677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56DB"/>
                </a:solidFill>
              </a:rPr>
              <a:t>Données</a:t>
            </a:r>
            <a:endParaRPr lang="en-US" sz="16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CSV validés (schéma)</a:t>
            </a:r>
            <a:endParaRPr lang="en-US" sz="1600" dirty="0"/>
          </a:p>
        </p:txBody>
      </p:sp>
      <p:sp>
        <p:nvSpPr>
          <p:cNvPr id="6" name="Bloc Entraînement"/>
          <p:cNvSpPr/>
          <p:nvPr/>
        </p:nvSpPr>
        <p:spPr>
          <a:xfrm>
            <a:off x="3429000" y="1600200"/>
            <a:ext cx="2450592" cy="914400"/>
          </a:xfrm>
          <a:prstGeom prst="roundRect">
            <a:avLst>
              <a:gd name="adj" fmla="val 10000"/>
            </a:avLst>
          </a:prstGeom>
          <a:solidFill>
            <a:srgbClr val="EAF1FD"/>
          </a:solidFill>
          <a:ln w="15875">
            <a:solidFill>
              <a:srgbClr val="1A56DB"/>
            </a:solidFill>
            <a:prstDash val="solid"/>
          </a:ln>
        </p:spPr>
      </p:sp>
      <p:sp>
        <p:nvSpPr>
          <p:cNvPr id="7" name="Texte Entraînement"/>
          <p:cNvSpPr txBox="1"/>
          <p:nvPr/>
        </p:nvSpPr>
        <p:spPr>
          <a:xfrm>
            <a:off x="3520440" y="1600200"/>
            <a:ext cx="22677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56DB"/>
                </a:solidFill>
              </a:rPr>
              <a:t>Entraînement</a:t>
            </a:r>
            <a:endParaRPr lang="en-US" sz="16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forages.train · CV 5 plis</a:t>
            </a:r>
            <a:endParaRPr lang="en-US" sz="1600" dirty="0"/>
          </a:p>
        </p:txBody>
      </p:sp>
      <p:sp>
        <p:nvSpPr>
          <p:cNvPr id="8" name="Bloc Modèle livré"/>
          <p:cNvSpPr/>
          <p:nvPr/>
        </p:nvSpPr>
        <p:spPr>
          <a:xfrm>
            <a:off x="6309360" y="1600200"/>
            <a:ext cx="2450592" cy="914400"/>
          </a:xfrm>
          <a:prstGeom prst="roundRect">
            <a:avLst>
              <a:gd name="adj" fmla="val 10000"/>
            </a:avLst>
          </a:prstGeom>
          <a:solidFill>
            <a:srgbClr val="EAF1FD"/>
          </a:solidFill>
          <a:ln w="15875">
            <a:solidFill>
              <a:srgbClr val="1A56DB"/>
            </a:solidFill>
            <a:prstDash val="solid"/>
          </a:ln>
        </p:spPr>
      </p:sp>
      <p:sp>
        <p:nvSpPr>
          <p:cNvPr id="9" name="Texte Modèle livré"/>
          <p:cNvSpPr txBox="1"/>
          <p:nvPr/>
        </p:nvSpPr>
        <p:spPr>
          <a:xfrm>
            <a:off x="6400800" y="1600200"/>
            <a:ext cx="22677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56DB"/>
                </a:solidFill>
              </a:rPr>
              <a:t>Modèle livré</a:t>
            </a:r>
            <a:endParaRPr lang="en-US" sz="16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model.joblib + metadata</a:t>
            </a:r>
            <a:endParaRPr lang="en-US" sz="1600" dirty="0"/>
          </a:p>
        </p:txBody>
      </p:sp>
      <p:sp>
        <p:nvSpPr>
          <p:cNvPr id="10" name="Bloc API FastAPI"/>
          <p:cNvSpPr/>
          <p:nvPr/>
        </p:nvSpPr>
        <p:spPr>
          <a:xfrm>
            <a:off x="9189720" y="1600200"/>
            <a:ext cx="2450592" cy="914400"/>
          </a:xfrm>
          <a:prstGeom prst="roundRect">
            <a:avLst>
              <a:gd name="adj" fmla="val 10000"/>
            </a:avLst>
          </a:prstGeom>
          <a:solidFill>
            <a:srgbClr val="EAF1FD"/>
          </a:solidFill>
          <a:ln w="15875">
            <a:solidFill>
              <a:srgbClr val="1A56DB"/>
            </a:solidFill>
            <a:prstDash val="solid"/>
          </a:ln>
        </p:spPr>
      </p:sp>
      <p:sp>
        <p:nvSpPr>
          <p:cNvPr id="11" name="Texte API FastAPI"/>
          <p:cNvSpPr txBox="1"/>
          <p:nvPr/>
        </p:nvSpPr>
        <p:spPr>
          <a:xfrm>
            <a:off x="9281160" y="1600200"/>
            <a:ext cx="22677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56DB"/>
                </a:solidFill>
              </a:rPr>
              <a:t>API FastAPI</a:t>
            </a:r>
            <a:endParaRPr lang="en-US" sz="16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/v1/predict · /health</a:t>
            </a:r>
            <a:endParaRPr lang="en-US" sz="1600" dirty="0"/>
          </a:p>
        </p:txBody>
      </p:sp>
      <p:sp>
        <p:nvSpPr>
          <p:cNvPr id="12" name="Bloc MLflow"/>
          <p:cNvSpPr/>
          <p:nvPr/>
        </p:nvSpPr>
        <p:spPr>
          <a:xfrm>
            <a:off x="3429000" y="3108960"/>
            <a:ext cx="2450592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1A56DB"/>
            </a:solidFill>
            <a:prstDash val="solid"/>
          </a:ln>
        </p:spPr>
      </p:sp>
      <p:sp>
        <p:nvSpPr>
          <p:cNvPr id="13" name="Texte MLflow"/>
          <p:cNvSpPr txBox="1"/>
          <p:nvPr/>
        </p:nvSpPr>
        <p:spPr>
          <a:xfrm>
            <a:off x="3520440" y="3108960"/>
            <a:ext cx="22677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56DB"/>
                </a:solidFill>
              </a:rPr>
              <a:t>MLflow</a:t>
            </a:r>
            <a:endParaRPr lang="en-US" sz="16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runs · champion / challenger</a:t>
            </a:r>
            <a:endParaRPr lang="en-US" sz="1600" dirty="0"/>
          </a:p>
        </p:txBody>
      </p:sp>
      <p:sp>
        <p:nvSpPr>
          <p:cNvPr id="14" name="Bloc Surveillance"/>
          <p:cNvSpPr/>
          <p:nvPr/>
        </p:nvSpPr>
        <p:spPr>
          <a:xfrm>
            <a:off x="6309360" y="3108960"/>
            <a:ext cx="2450592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1A56DB"/>
            </a:solidFill>
            <a:prstDash val="solid"/>
          </a:ln>
        </p:spPr>
      </p:sp>
      <p:sp>
        <p:nvSpPr>
          <p:cNvPr id="15" name="Texte Surveillance"/>
          <p:cNvSpPr txBox="1"/>
          <p:nvPr/>
        </p:nvSpPr>
        <p:spPr>
          <a:xfrm>
            <a:off x="6400800" y="3108960"/>
            <a:ext cx="22677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56DB"/>
                </a:solidFill>
              </a:rPr>
              <a:t>Surveillance</a:t>
            </a:r>
            <a:endParaRPr lang="en-US" sz="16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forages.drift · retrain</a:t>
            </a:r>
            <a:endParaRPr lang="en-US" sz="1600" dirty="0"/>
          </a:p>
        </p:txBody>
      </p:sp>
      <p:sp>
        <p:nvSpPr>
          <p:cNvPr id="16" name="Bloc Image Docker"/>
          <p:cNvSpPr/>
          <p:nvPr/>
        </p:nvSpPr>
        <p:spPr>
          <a:xfrm>
            <a:off x="9189720" y="3108960"/>
            <a:ext cx="2450592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1A56DB"/>
            </a:solidFill>
            <a:prstDash val="solid"/>
          </a:ln>
        </p:spPr>
      </p:sp>
      <p:sp>
        <p:nvSpPr>
          <p:cNvPr id="17" name="Texte Image Docker"/>
          <p:cNvSpPr txBox="1"/>
          <p:nvPr/>
        </p:nvSpPr>
        <p:spPr>
          <a:xfrm>
            <a:off x="9281160" y="3108960"/>
            <a:ext cx="22677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56DB"/>
                </a:solidFill>
              </a:rPr>
              <a:t>Image Docker</a:t>
            </a:r>
            <a:endParaRPr lang="en-US" sz="16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python 3.12, non root</a:t>
            </a:r>
            <a:endParaRPr lang="en-US" sz="1600" dirty="0"/>
          </a:p>
        </p:txBody>
      </p:sp>
      <p:sp>
        <p:nvSpPr>
          <p:cNvPr id="18" name="Flèche 1"/>
          <p:cNvSpPr/>
          <p:nvPr/>
        </p:nvSpPr>
        <p:spPr>
          <a:xfrm>
            <a:off x="2999232" y="2057400"/>
            <a:ext cx="429768" cy="0"/>
          </a:xfrm>
          <a:prstGeom prst="line">
            <a:avLst/>
          </a:prstGeom>
          <a:noFill/>
          <a:ln w="25400">
            <a:solidFill>
              <a:srgbClr val="1A56DB"/>
            </a:solidFill>
            <a:prstDash val="solid"/>
            <a:tailEnd type="triangle"/>
          </a:ln>
        </p:spPr>
      </p:sp>
      <p:sp>
        <p:nvSpPr>
          <p:cNvPr id="19" name="Flèche 2"/>
          <p:cNvSpPr/>
          <p:nvPr/>
        </p:nvSpPr>
        <p:spPr>
          <a:xfrm>
            <a:off x="5879592" y="2057400"/>
            <a:ext cx="429768" cy="0"/>
          </a:xfrm>
          <a:prstGeom prst="line">
            <a:avLst/>
          </a:prstGeom>
          <a:noFill/>
          <a:ln w="25400">
            <a:solidFill>
              <a:srgbClr val="1A56DB"/>
            </a:solidFill>
            <a:prstDash val="solid"/>
            <a:tailEnd type="triangle"/>
          </a:ln>
        </p:spPr>
      </p:sp>
      <p:sp>
        <p:nvSpPr>
          <p:cNvPr id="20" name="Flèche 3"/>
          <p:cNvSpPr/>
          <p:nvPr/>
        </p:nvSpPr>
        <p:spPr>
          <a:xfrm>
            <a:off x="8759952" y="2057400"/>
            <a:ext cx="429768" cy="0"/>
          </a:xfrm>
          <a:prstGeom prst="line">
            <a:avLst/>
          </a:prstGeom>
          <a:noFill/>
          <a:ln w="25400">
            <a:solidFill>
              <a:srgbClr val="1A56DB"/>
            </a:solidFill>
            <a:prstDash val="solid"/>
            <a:tailEnd type="triangle"/>
          </a:ln>
        </p:spPr>
      </p:sp>
      <p:sp>
        <p:nvSpPr>
          <p:cNvPr id="21" name="Flèche bas 1"/>
          <p:cNvSpPr/>
          <p:nvPr/>
        </p:nvSpPr>
        <p:spPr>
          <a:xfrm>
            <a:off x="4654296" y="2514600"/>
            <a:ext cx="0" cy="594360"/>
          </a:xfrm>
          <a:prstGeom prst="line">
            <a:avLst/>
          </a:prstGeom>
          <a:noFill/>
          <a:ln w="25400">
            <a:solidFill>
              <a:srgbClr val="1A56DB"/>
            </a:solidFill>
            <a:prstDash val="solid"/>
            <a:tailEnd type="triangle"/>
          </a:ln>
        </p:spPr>
      </p:sp>
      <p:sp>
        <p:nvSpPr>
          <p:cNvPr id="22" name="Flèche bas 2"/>
          <p:cNvSpPr/>
          <p:nvPr/>
        </p:nvSpPr>
        <p:spPr>
          <a:xfrm>
            <a:off x="7534656" y="2514600"/>
            <a:ext cx="0" cy="594360"/>
          </a:xfrm>
          <a:prstGeom prst="line">
            <a:avLst/>
          </a:prstGeom>
          <a:noFill/>
          <a:ln w="25400">
            <a:solidFill>
              <a:srgbClr val="1A56DB"/>
            </a:solidFill>
            <a:prstDash val="solid"/>
            <a:tailEnd type="triangle"/>
          </a:ln>
        </p:spPr>
      </p:sp>
      <p:sp>
        <p:nvSpPr>
          <p:cNvPr id="23" name="Flèche bas 3"/>
          <p:cNvSpPr/>
          <p:nvPr/>
        </p:nvSpPr>
        <p:spPr>
          <a:xfrm>
            <a:off x="10415016" y="2514600"/>
            <a:ext cx="0" cy="594360"/>
          </a:xfrm>
          <a:prstGeom prst="line">
            <a:avLst/>
          </a:prstGeom>
          <a:noFill/>
          <a:ln w="25400">
            <a:solidFill>
              <a:srgbClr val="1A56DB"/>
            </a:solidFill>
            <a:prstDash val="solid"/>
            <a:tailEnd type="triangle"/>
          </a:ln>
        </p:spPr>
      </p:sp>
      <p:sp>
        <p:nvSpPr>
          <p:cNvPr id="24" name="Flèche MLflow"/>
          <p:cNvSpPr/>
          <p:nvPr/>
        </p:nvSpPr>
        <p:spPr>
          <a:xfrm>
            <a:off x="5879592" y="3566160"/>
            <a:ext cx="429768" cy="0"/>
          </a:xfrm>
          <a:prstGeom prst="line">
            <a:avLst/>
          </a:prstGeom>
          <a:noFill/>
          <a:ln w="25400">
            <a:solidFill>
              <a:srgbClr val="1A56DB"/>
            </a:solidFill>
            <a:prstDash val="solid"/>
            <a:tailEnd type="triangle"/>
          </a:ln>
        </p:spPr>
      </p:sp>
      <p:sp>
        <p:nvSpPr>
          <p:cNvPr id="25" name="Carte CI"/>
          <p:cNvSpPr/>
          <p:nvPr/>
        </p:nvSpPr>
        <p:spPr>
          <a:xfrm>
            <a:off x="548640" y="44348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1FD"/>
          </a:solidFill>
          <a:ln w="12700">
            <a:solidFill>
              <a:srgbClr val="EAF1FD"/>
            </a:solidFill>
            <a:prstDash val="solid"/>
          </a:ln>
        </p:spPr>
      </p:sp>
      <p:sp>
        <p:nvSpPr>
          <p:cNvPr id="26" name="CI"/>
          <p:cNvSpPr txBox="1"/>
          <p:nvPr/>
        </p:nvSpPr>
        <p:spPr>
          <a:xfrm>
            <a:off x="822960" y="443484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CI GitHub Actions à chaque push : tests → ré-entraînement et contrôle de reproductibilité → garde-fou de performance → rapport de dérive → construction et test du conteneur</a:t>
            </a:r>
            <a:endParaRPr lang="en-US" sz="1500" dirty="0"/>
          </a:p>
        </p:txBody>
      </p:sp>
      <p:sp>
        <p:nvSpPr>
          <p:cNvPr id="27" name="Traçabilité"/>
          <p:cNvSpPr txBox="1"/>
          <p:nvPr/>
        </p:nvSpPr>
        <p:spPr>
          <a:xfrm>
            <a:off x="548640" y="553212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A56DB"/>
                </a:solidFill>
              </a:rPr>
              <a:t>Traçabilité : </a:t>
            </a:r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chaque réponse de l'API porte la version du modèle, qui renvoie au run MLflow, au commit Git et à l'empreinte des données.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69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A56DB"/>
                </a:solidFill>
              </a:rPr>
              <a:t>J3 · SERVICE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858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00000"/>
                </a:solidFill>
              </a:rPr>
              <a:t>API : un contrat strict et versionné</a:t>
            </a:r>
            <a:endParaRPr lang="en-US" sz="3200" dirty="0"/>
          </a:p>
        </p:txBody>
      </p:sp>
      <p:graphicFrame>
        <p:nvGraphicFramePr>
          <p:cNvPr id="8" name="Route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54864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329184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Route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Rôle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6D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A56D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 /health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état et version du modèle chargé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A56D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 /v1/model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 MLflow, seuil, métriques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A56D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 /v1/predict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lot de 1 à 1 000 forages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A56D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 /predict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alias de /v1/predict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ègles"/>
          <p:cNvSpPr txBox="1"/>
          <p:nvPr/>
        </p:nvSpPr>
        <p:spPr>
          <a:xfrm>
            <a:off x="548640" y="4114800"/>
            <a:ext cx="54864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Validation Pydantic : types, bornes physiques, modalités, champs inconnus refusés → 422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Versionnement : /v1 dans l'URL, version du modèle dans la réponse et l'en-tête X-Model-Version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Sans modèle : mode dégradé signalé par /health, 503 sur les prédictions</a:t>
            </a:r>
            <a:endParaRPr lang="en-US" sz="1400" dirty="0"/>
          </a:p>
        </p:txBody>
      </p:sp>
      <p:sp>
        <p:nvSpPr>
          <p:cNvPr id="6" name="Bloc code"/>
          <p:cNvSpPr/>
          <p:nvPr/>
        </p:nvSpPr>
        <p:spPr>
          <a:xfrm>
            <a:off x="6400800" y="1645920"/>
            <a:ext cx="5239512" cy="3931920"/>
          </a:xfrm>
          <a:prstGeom prst="roundRect">
            <a:avLst>
              <a:gd name="adj" fmla="val 2791"/>
            </a:avLst>
          </a:prstGeom>
          <a:solidFill>
            <a:srgbClr val="EAF1FD"/>
          </a:solidFill>
          <a:ln w="12700">
            <a:solidFill>
              <a:srgbClr val="EAF1FD"/>
            </a:solidFill>
            <a:prstDash val="solid"/>
          </a:ln>
        </p:spPr>
      </p:sp>
      <p:sp>
        <p:nvSpPr>
          <p:cNvPr id="7" name="Exemple de requête"/>
          <p:cNvSpPr txBox="1"/>
          <p:nvPr/>
        </p:nvSpPr>
        <p:spPr>
          <a:xfrm>
            <a:off x="6629400" y="1783080"/>
            <a:ext cx="48463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A56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/v1/predict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{"forages": [{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"forage_id": "F-0001",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"age_ans": 22,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"jours_depuis_maintenance": 420,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"pannes_12m": 2,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"type_pompe": "thermique", ...}]}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A56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200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{"model_version": "20261025-00c9d345",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"seuil": 0.2765,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"predictions": [{"forage_id": "F-0001",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"probabilite_panne": 0.7455,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"a_visiter": true, "niveau_risque": "eleve"}]}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69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A56DB"/>
                </a:solidFill>
              </a:rPr>
              <a:t>J3-J4 · TESTS ET CI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858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00000"/>
                </a:solidFill>
              </a:rPr>
              <a:t>Qualité : tests, intégration continue et garde-fou</a:t>
            </a:r>
            <a:endParaRPr lang="en-US" sz="3200" dirty="0"/>
          </a:p>
        </p:txBody>
      </p:sp>
      <p:sp>
        <p:nvSpPr>
          <p:cNvPr id="4" name="Carte 1"/>
          <p:cNvSpPr/>
          <p:nvPr/>
        </p:nvSpPr>
        <p:spPr>
          <a:xfrm>
            <a:off x="548640" y="1600200"/>
            <a:ext cx="3657600" cy="1371600"/>
          </a:xfrm>
          <a:prstGeom prst="roundRect">
            <a:avLst>
              <a:gd name="adj" fmla="val 8000"/>
            </a:avLst>
          </a:prstGeom>
          <a:solidFill>
            <a:srgbClr val="EAF1FD"/>
          </a:solidFill>
          <a:ln w="12700">
            <a:solidFill>
              <a:srgbClr val="EAF1FD"/>
            </a:solidFill>
            <a:prstDash val="solid"/>
          </a:ln>
        </p:spPr>
      </p:sp>
      <p:sp>
        <p:nvSpPr>
          <p:cNvPr id="5" name="Valeur 1"/>
          <p:cNvSpPr txBox="1"/>
          <p:nvPr/>
        </p:nvSpPr>
        <p:spPr>
          <a:xfrm>
            <a:off x="777240" y="169164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A56DB"/>
                </a:solidFill>
              </a:rPr>
              <a:t>43</a:t>
            </a:r>
            <a:endParaRPr lang="en-US" sz="4000" dirty="0"/>
          </a:p>
        </p:txBody>
      </p:sp>
      <p:sp>
        <p:nvSpPr>
          <p:cNvPr id="6" name="Libellé 1"/>
          <p:cNvSpPr txBox="1"/>
          <p:nvPr/>
        </p:nvSpPr>
        <p:spPr>
          <a:xfrm>
            <a:off x="777240" y="2313432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tests pytest (données, métriques, pipeline, API, dérive, performance)</a:t>
            </a:r>
            <a:endParaRPr lang="en-US" sz="1300" dirty="0"/>
          </a:p>
        </p:txBody>
      </p:sp>
      <p:sp>
        <p:nvSpPr>
          <p:cNvPr id="7" name="Carte 2"/>
          <p:cNvSpPr/>
          <p:nvPr/>
        </p:nvSpPr>
        <p:spPr>
          <a:xfrm>
            <a:off x="548640" y="3154680"/>
            <a:ext cx="3657600" cy="1371600"/>
          </a:xfrm>
          <a:prstGeom prst="roundRect">
            <a:avLst>
              <a:gd name="adj" fmla="val 8000"/>
            </a:avLst>
          </a:prstGeom>
          <a:solidFill>
            <a:srgbClr val="EAF1FD"/>
          </a:solidFill>
          <a:ln w="12700">
            <a:solidFill>
              <a:srgbClr val="EAF1FD"/>
            </a:solidFill>
            <a:prstDash val="solid"/>
          </a:ln>
        </p:spPr>
      </p:sp>
      <p:sp>
        <p:nvSpPr>
          <p:cNvPr id="8" name="Valeur 2"/>
          <p:cNvSpPr txBox="1"/>
          <p:nvPr/>
        </p:nvSpPr>
        <p:spPr>
          <a:xfrm>
            <a:off x="777240" y="324612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56DB"/>
                </a:solidFill>
              </a:rPr>
              <a:t>Reproductible</a:t>
            </a:r>
            <a:endParaRPr lang="en-US" sz="2600" dirty="0"/>
          </a:p>
        </p:txBody>
      </p:sp>
      <p:sp>
        <p:nvSpPr>
          <p:cNvPr id="9" name="Libellé 2"/>
          <p:cNvSpPr txBox="1"/>
          <p:nvPr/>
        </p:nvSpPr>
        <p:spPr>
          <a:xfrm>
            <a:off x="777240" y="3867912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la CI ré-entraîne depuis zéro et compare aux métriques livrées</a:t>
            </a:r>
            <a:endParaRPr lang="en-US" sz="1300" dirty="0"/>
          </a:p>
        </p:txBody>
      </p:sp>
      <p:sp>
        <p:nvSpPr>
          <p:cNvPr id="10" name="Carte 3"/>
          <p:cNvSpPr/>
          <p:nvPr/>
        </p:nvSpPr>
        <p:spPr>
          <a:xfrm>
            <a:off x="548640" y="4709160"/>
            <a:ext cx="3657600" cy="1371600"/>
          </a:xfrm>
          <a:prstGeom prst="roundRect">
            <a:avLst>
              <a:gd name="adj" fmla="val 8000"/>
            </a:avLst>
          </a:prstGeom>
          <a:solidFill>
            <a:srgbClr val="EAF1FD"/>
          </a:solidFill>
          <a:ln w="12700">
            <a:solidFill>
              <a:srgbClr val="EAF1FD"/>
            </a:solidFill>
            <a:prstDash val="solid"/>
          </a:ln>
        </p:spPr>
      </p:sp>
      <p:sp>
        <p:nvSpPr>
          <p:cNvPr id="11" name="Valeur 3"/>
          <p:cNvSpPr txBox="1"/>
          <p:nvPr/>
        </p:nvSpPr>
        <p:spPr>
          <a:xfrm>
            <a:off x="777240" y="480060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56DB"/>
                </a:solidFill>
              </a:rPr>
              <a:t>Docker</a:t>
            </a:r>
            <a:endParaRPr lang="en-US" sz="2600" dirty="0"/>
          </a:p>
        </p:txBody>
      </p:sp>
      <p:sp>
        <p:nvSpPr>
          <p:cNvPr id="12" name="Libellé 3"/>
          <p:cNvSpPr txBox="1"/>
          <p:nvPr/>
        </p:nvSpPr>
        <p:spPr>
          <a:xfrm>
            <a:off x="777240" y="5422392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image construite, démarrée et interrogée (CI et en local)</a:t>
            </a:r>
            <a:endParaRPr lang="en-US" sz="1300" dirty="0"/>
          </a:p>
        </p:txBody>
      </p:sp>
      <p:sp>
        <p:nvSpPr>
          <p:cNvPr id="13" name="Points clés"/>
          <p:cNvSpPr txBox="1"/>
          <p:nvPr/>
        </p:nvSpPr>
        <p:spPr>
          <a:xfrm>
            <a:off x="4754880" y="1645920"/>
            <a:ext cx="6885432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</a:rPr>
              <a:t>Garde-fou de performance : la CI échoue si le modèle passe sous</a:t>
            </a:r>
            <a:endParaRPr lang="en-US" sz="1700" dirty="0"/>
          </a:p>
          <a:p>
            <a:pPr lvl="1" marL="406400" indent="-2032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3A4A63"/>
                </a:solidFill>
              </a:rPr>
              <a:t>PR-AUC 0,55 · ROC-AUC 0,70 · rappel 0,75 · gain sur le hasard 0,15</a:t>
            </a:r>
            <a:endParaRPr lang="en-US" sz="17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</a:rPr>
              <a:t>Seuils = engagements métier, pas les scores actuels : marge pour la variance, blocage des régressions</a:t>
            </a:r>
            <a:endParaRPr lang="en-US" sz="17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</a:rPr>
              <a:t>Tests de l'API : cas valides, lots, ordre, alias, 8 entrées invalides, mode dégradé</a:t>
            </a:r>
            <a:endParaRPr lang="en-US" sz="17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</a:rPr>
              <a:t>Tests des données : schéma, bornes, modalités, découpage stratifié et reproductible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69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A56DB"/>
                </a:solidFill>
              </a:rPr>
              <a:t>J5 · SURVEILLANCE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858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00000"/>
                </a:solidFill>
              </a:rPr>
              <a:t>Nouveau mois : dérive détectée, décision RE-ENTRAINER</a:t>
            </a:r>
            <a:endParaRPr lang="en-US" sz="3200" dirty="0"/>
          </a:p>
        </p:txBody>
      </p:sp>
      <p:pic>
        <p:nvPicPr>
          <p:cNvPr id="4" name="Dérive" descr="Distributions de référence et du nouveau moi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54480"/>
            <a:ext cx="11091672" cy="2377440"/>
          </a:xfrm>
          <a:prstGeom prst="rect">
            <a:avLst/>
          </a:prstGeom>
        </p:spPr>
      </p:pic>
      <p:sp>
        <p:nvSpPr>
          <p:cNvPr id="5" name="Carte dérive"/>
          <p:cNvSpPr/>
          <p:nvPr/>
        </p:nvSpPr>
        <p:spPr>
          <a:xfrm>
            <a:off x="548640" y="4160520"/>
            <a:ext cx="5394960" cy="2011680"/>
          </a:xfrm>
          <a:prstGeom prst="roundRect">
            <a:avLst>
              <a:gd name="adj" fmla="val 5455"/>
            </a:avLst>
          </a:prstGeom>
          <a:solidFill>
            <a:srgbClr val="EAF1FD"/>
          </a:solidFill>
          <a:ln w="12700">
            <a:solidFill>
              <a:srgbClr val="EAF1FD"/>
            </a:solidFill>
            <a:prstDash val="solid"/>
          </a:ln>
        </p:spPr>
      </p:sp>
      <p:sp>
        <p:nvSpPr>
          <p:cNvPr id="6" name="Constat dérive"/>
          <p:cNvSpPr txBox="1"/>
          <p:nvPr/>
        </p:nvSpPr>
        <p:spPr>
          <a:xfrm>
            <a:off x="777240" y="4297680"/>
            <a:ext cx="49377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Dérive : usagers_jour de 484 à 643 (PSI 0,39), 26 % hors plage d'entraînement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Mais le modèle tient : ROC-AUC 0,781, rappel 0,892, écart de calibration -0,005</a:t>
            </a:r>
            <a:endParaRPr lang="en-US" sz="1400" dirty="0"/>
          </a:p>
        </p:txBody>
      </p:sp>
      <p:sp>
        <p:nvSpPr>
          <p:cNvPr id="7" name="Carte décision"/>
          <p:cNvSpPr/>
          <p:nvPr/>
        </p:nvSpPr>
        <p:spPr>
          <a:xfrm>
            <a:off x="6245352" y="4160520"/>
            <a:ext cx="5394960" cy="2011680"/>
          </a:xfrm>
          <a:prstGeom prst="roundRect">
            <a:avLst>
              <a:gd name="adj" fmla="val 5455"/>
            </a:avLst>
          </a:prstGeom>
          <a:solidFill>
            <a:srgbClr val="EAF1FD"/>
          </a:solidFill>
          <a:ln w="12700">
            <a:solidFill>
              <a:srgbClr val="EAF1FD"/>
            </a:solidFill>
            <a:prstDash val="solid"/>
          </a:ln>
        </p:spPr>
      </p:sp>
      <p:sp>
        <p:nvSpPr>
          <p:cNvPr id="8" name="Décision"/>
          <p:cNvSpPr txBox="1"/>
          <p:nvPr/>
        </p:nvSpPr>
        <p:spPr>
          <a:xfrm>
            <a:off x="6473952" y="4297680"/>
            <a:ext cx="49377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Champion / challenger : gain de PR-AUC +0,008, IC 95 % [-0,003 ; +0,017]</a:t>
            </a:r>
            <a:endParaRPr lang="en-US" sz="14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Seuil de promotion +0,01 non atteint : champion conservé</a:t>
            </a:r>
            <a:endParaRPr lang="en-US" sz="14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Impact : 72 % des forages au-dessus du seuil → prioriser par probabilité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69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A56DB"/>
                </a:solidFill>
              </a:rPr>
              <a:t>CONCLUSION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858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00000"/>
                </a:solidFill>
              </a:rPr>
              <a:t>Bonus, limites et prochaines étapes</a:t>
            </a:r>
            <a:endParaRPr lang="en-US" sz="3200" dirty="0"/>
          </a:p>
        </p:txBody>
      </p:sp>
      <p:sp>
        <p:nvSpPr>
          <p:cNvPr id="4" name="Titre bonus"/>
          <p:cNvSpPr txBox="1"/>
          <p:nvPr/>
        </p:nvSpPr>
        <p:spPr>
          <a:xfrm>
            <a:off x="548640" y="169164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56DB"/>
                </a:solidFill>
              </a:rPr>
              <a:t>Bonus</a:t>
            </a:r>
            <a:endParaRPr lang="en-US" sz="2200" dirty="0"/>
          </a:p>
        </p:txBody>
      </p:sp>
      <p:sp>
        <p:nvSpPr>
          <p:cNvPr id="5" name="Bonus"/>
          <p:cNvSpPr txBox="1"/>
          <p:nvPr/>
        </p:nvSpPr>
        <p:spPr>
          <a:xfrm>
            <a:off x="548640" y="2286000"/>
            <a:ext cx="53949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Tableau de bord : forages classés par risque, filtres, capacité de visites réglable</a:t>
            </a:r>
            <a:endParaRPr lang="en-US" sz="16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Registre MLflow : alias champion / challenger, promotion conditionnée à un gain mesuré</a:t>
            </a:r>
            <a:endParaRPr lang="en-US" sz="16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Règle de décision : OK / SURVEILLER / RE-ENTRAINER, testée et exécutée par la CI</a:t>
            </a:r>
            <a:endParaRPr lang="en-US" sz="1600" dirty="0"/>
          </a:p>
        </p:txBody>
      </p:sp>
      <p:sp>
        <p:nvSpPr>
          <p:cNvPr id="6" name="Titre limites"/>
          <p:cNvSpPr txBox="1"/>
          <p:nvPr/>
        </p:nvSpPr>
        <p:spPr>
          <a:xfrm>
            <a:off x="6245352" y="169164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56DB"/>
                </a:solidFill>
              </a:rPr>
              <a:t>Limites et suite</a:t>
            </a:r>
            <a:endParaRPr lang="en-US" sz="2200" dirty="0"/>
          </a:p>
        </p:txBody>
      </p:sp>
      <p:sp>
        <p:nvSpPr>
          <p:cNvPr id="7" name="Limites"/>
          <p:cNvSpPr txBox="1"/>
          <p:nvPr/>
        </p:nvSpPr>
        <p:spPr>
          <a:xfrm>
            <a:off x="6245352" y="2286000"/>
            <a:ext cx="5394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Limites : données fictives, un seul mois récent étiqueté, hypothèse temporelle à confirmer</a:t>
            </a:r>
            <a:endParaRPr lang="en-US" sz="16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Capacité : au seuil actuel, trop de forages signalés pour toutes les équipes</a:t>
            </a:r>
            <a:endParaRPr lang="en-US" sz="16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Suite : dérive mensuelle planifiée (--fail-on-retrain), second mois pour le challenger, seuil fixé selon la capacité réelle de visites</a:t>
            </a:r>
            <a:endParaRPr lang="en-US" sz="1600" dirty="0"/>
          </a:p>
        </p:txBody>
      </p:sp>
      <p:sp>
        <p:nvSpPr>
          <p:cNvPr id="8" name="Carte reproductibilité"/>
          <p:cNvSpPr/>
          <p:nvPr/>
        </p:nvSpPr>
        <p:spPr>
          <a:xfrm>
            <a:off x="548640" y="5577840"/>
            <a:ext cx="11091672" cy="594360"/>
          </a:xfrm>
          <a:prstGeom prst="roundRect">
            <a:avLst>
              <a:gd name="adj" fmla="val 18462"/>
            </a:avLst>
          </a:prstGeom>
          <a:solidFill>
            <a:srgbClr val="EAF1FD"/>
          </a:solidFill>
          <a:ln w="12700">
            <a:solidFill>
              <a:srgbClr val="EAF1FD"/>
            </a:solidFill>
            <a:prstDash val="solid"/>
          </a:ln>
        </p:spPr>
      </p:sp>
      <p:sp>
        <p:nvSpPr>
          <p:cNvPr id="9" name="Reproductibilité"/>
          <p:cNvSpPr txBox="1"/>
          <p:nvPr/>
        </p:nvSpPr>
        <p:spPr>
          <a:xfrm>
            <a:off x="822960" y="557784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Tout résultat présenté est produit par un script du dépôt : explore → train → drift → retrain → dashboard → make_slides.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69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outenance Noir Bleu">
  <a:themeElements>
    <a:clrScheme name="Soutenance Noir Bleu">
      <a:dk1>
        <a:srgbClr val="000000"/>
      </a:dk1>
      <a:lt1>
        <a:srgbClr val="FFFFFF"/>
      </a:lt1>
      <a:dk2>
        <a:srgbClr val="0B1F44"/>
      </a:dk2>
      <a:lt2>
        <a:srgbClr val="EAF1FD"/>
      </a:lt2>
      <a:accent1>
        <a:srgbClr val="1A56DB"/>
      </a:accent1>
      <a:accent2>
        <a:srgbClr val="5B9BFF"/>
      </a:accent2>
      <a:accent3>
        <a:srgbClr val="0B1F44"/>
      </a:accent3>
      <a:accent4>
        <a:srgbClr val="7A869A"/>
      </a:accent4>
      <a:accent5>
        <a:srgbClr val="3B82F6"/>
      </a:accent5>
      <a:accent6>
        <a:srgbClr val="111111"/>
      </a:accent6>
      <a:hlink>
        <a:srgbClr val="1A56DB"/>
      </a:hlink>
      <a:folHlink>
        <a:srgbClr val="0B1F44"/>
      </a:folHlink>
    </a:clrScheme>
    <a:fontScheme name="Soutenance Noir Bleu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Du modèle à la production : prédire les pannes de forages</dc:title>
  <dc:subject>PptxGenJS Presentation</dc:subject>
  <dc:creator>PptxGenJS</dc:creator>
  <cp:lastModifiedBy>PptxGenJS</cp:lastModifiedBy>
  <cp:revision>1</cp:revision>
  <dcterms:created xsi:type="dcterms:W3CDTF">2026-10-26T07:36:19Z</dcterms:created>
  <dcterms:modified xsi:type="dcterms:W3CDTF">2026-10-26T07:36:19Z</dcterms:modified>
</cp:coreProperties>
</file>