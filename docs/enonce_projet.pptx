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t" id="{4479D1DD-2121-EE57-29CF-F540DD8D0F92}">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3069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 à réaliser en équipe à la fin du cours. Les données sont fictives et fournies (forages_historique.csv : 3 000 forages ; forages_nouveau_mois.csv : 600 forages récents). Un kit corrigé existe pour l'enseignant (projet_mlops_kit.zip).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Règle d'or : à la fin de chaque journée, tout est commité et les tests passent. Point de 15 minutes chaque matin avec l'enseignant. Démo intermédiaire le mercredi en fin de journée.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individuelle : la note d'équipe peut être modulée de ±2 points selon la contribution de chacun (historique Git, questions individuelles lors de la soutenance).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1E1B4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4173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926080"/>
            <a:ext cx="8046720" cy="914400"/>
          </a:xfrm>
          <a:prstGeom prst="rect">
            <a:avLst/>
          </a:prstGeom>
          <a:noFill/>
          <a:ln/>
        </p:spPr>
        <p:txBody>
          <a:bodyPr wrap="square" rtlCol="0"/>
          <a:lstStyle>
            <a:lvl1pPr marL="0" indent="0" algn="l">
              <a:buNone/>
              <a:defRPr lang="en-US" sz="1800" dirty="0">
                <a:solidFill>
                  <a:srgbClr val="C7D2FE"/>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E1B4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828800" y="1097280"/>
            <a:ext cx="6858000" cy="15087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a:spLocks noGrp="1"/>
          </p:cNvSpPr>
          <p:nvPr>
            <p:ph type="body" idx="101" hasCustomPrompt="1"/>
          </p:nvPr>
        </p:nvSpPr>
        <p:spPr>
          <a:xfrm>
            <a:off x="1828800" y="2743200"/>
            <a:ext cx="6858000" cy="914400"/>
          </a:xfrm>
          <a:prstGeom prst="rect">
            <a:avLst/>
          </a:prstGeom>
          <a:noFill/>
          <a:ln/>
        </p:spPr>
        <p:txBody>
          <a:bodyPr wrap="square" rtlCol="0"/>
          <a:lstStyle>
            <a:lvl1pPr marL="0" indent="0" algn="l">
              <a:buNone/>
              <a:defRPr lang="en-US" sz="1800" dirty="0">
                <a:solidFill>
                  <a:srgbClr val="C7D2FE"/>
                </a:solidFill>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6675120" cy="640080"/>
          </a:xfrm>
          <a:prstGeom prst="rect">
            <a:avLst/>
          </a:prstGeom>
          <a:noFill/>
          <a:ln/>
        </p:spPr>
        <p:txBody>
          <a:bodyPr wrap="square" rtlCol="0"/>
          <a:lstStyle>
            <a:lvl1pPr marL="0" indent="0" algn="l">
              <a:buNone/>
              <a:defRPr lang="en-US" sz="2600" b="1" dirty="0">
                <a:solidFill>
                  <a:schemeClr val="tx2"/>
                </a:solidFill>
              </a:defRPr>
            </a:lvl1pPr>
          </a:lstStyle>
          <a:p>
            <a:pPr marL="0" indent="0" algn="l">
              <a:buNone/>
            </a:pPr>
            <a:endParaRPr lang="en-US" sz="2600" dirty="0"/>
          </a:p>
        </p:txBody>
      </p:sp>
      <p:sp>
        <p:nvSpPr>
          <p:cNvPr id="3" name="Text 0"/>
          <p:cNvSpPr/>
          <p:nvPr/>
        </p:nvSpPr>
        <p:spPr>
          <a:xfrm>
            <a:off x="457200" y="4846320"/>
            <a:ext cx="5486400" cy="228600"/>
          </a:xfrm>
          <a:prstGeom prst="rect">
            <a:avLst/>
          </a:prstGeom>
          <a:noFill/>
          <a:ln/>
        </p:spPr>
        <p:txBody>
          <a:bodyPr wrap="square" lIns="0" tIns="0" rIns="0" bIns="0" rtlCol="0" anchor="ctr"/>
          <a:lstStyle/>
          <a:p>
            <a:pPr marL="0" indent="0">
              <a:buNone/>
            </a:pPr>
            <a:r>
              <a:rPr lang="en-US" sz="900" dirty="0">
                <a:solidFill>
                  <a:schemeClr val="accent5"/>
                </a:solidFill>
              </a:rPr>
              <a:t>Projet de fin de cours · apprentissage automatique appliqué à la production</a:t>
            </a:r>
            <a:endParaRPr lang="en-US" sz="9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eencoded.png"/>
          <p:cNvPicPr>
            <a:picLocks noChangeAspect="1"/>
          </p:cNvPicPr>
          <p:nvPr/>
        </p:nvPicPr>
        <p:blipFill>
          <a:blip r:embed="rId3"/>
          <a:stretch>
            <a:fillRect/>
          </a:stretch>
        </p:blipFill>
        <p:spPr>
          <a:xfrm>
            <a:off x="548640" y="548640"/>
            <a:ext cx="548640" cy="548640"/>
          </a:xfrm>
          <a:prstGeom prst="rect">
            <a:avLst/>
          </a:prstGeom>
        </p:spPr>
      </p:pic>
      <p:sp>
        <p:nvSpPr>
          <p:cNvPr id="3" name="t_1"/>
          <p:cNvSpPr txBox="1"/>
          <p:nvPr/>
        </p:nvSpPr>
        <p:spPr>
          <a:xfrm>
            <a:off x="548640" y="1188720"/>
            <a:ext cx="8046720" cy="274320"/>
          </a:xfrm>
          <a:prstGeom prst="rect">
            <a:avLst/>
          </a:prstGeom>
          <a:noFill/>
          <a:ln/>
        </p:spPr>
        <p:txBody>
          <a:bodyPr wrap="square" lIns="0" tIns="0" rIns="0" bIns="0" rtlCol="0" anchor="t"/>
          <a:lstStyle/>
          <a:p>
            <a:pPr marL="0" indent="0">
              <a:buNone/>
            </a:pPr>
            <a:r>
              <a:rPr lang="en-US" sz="1100" b="1" dirty="0">
                <a:solidFill>
                  <a:srgbClr val="F59E0B"/>
                </a:solidFill>
              </a:rPr>
              <a:t>PROJET DE FIN DE COURS · APPRENTISSAGE AUTOMATIQUE APPLIQUÉ À LA PRODUCTION</a:t>
            </a:r>
            <a:endParaRPr lang="en-US" sz="1100" dirty="0"/>
          </a:p>
        </p:txBody>
      </p:sp>
      <p:sp>
        <p:nvSpPr>
          <p:cNvPr id="4" name="Text 0"/>
          <p:cNvSpPr>
            <a:spLocks noGrp="1"/>
          </p:cNvSpPr>
          <p:nvPr>
            <p:ph type="title" idx="100" hasCustomPrompt="1"/>
          </p:nvPr>
        </p:nvSpPr>
        <p:spPr>
          <a:xfrm>
            <a:off x="548640" y="1371600"/>
            <a:ext cx="8046720" cy="1417320"/>
          </a:xfrm>
          <a:prstGeom prst="rect">
            <a:avLst/>
          </a:prstGeom>
          <a:noFill/>
          <a:ln/>
        </p:spPr>
        <p:txBody>
          <a:bodyPr wrap="square" lIns="0" tIns="0" rIns="0" bIns="0" rtlCol="0" anchor="b"/>
          <a:lstStyle/>
          <a:p>
            <a:pPr marL="0" indent="0" algn="l">
              <a:buNone/>
            </a:pPr>
            <a:r>
              <a:rPr lang="en-US" sz="4000" b="1" dirty="0">
                <a:solidFill>
                  <a:schemeClr val="bg1"/>
                </a:solidFill>
              </a:rPr>
              <a:t>Du modèle à la production : prédire les pannes de forages</a:t>
            </a:r>
            <a:endParaRPr lang="en-US" sz="4000" dirty="0"/>
          </a:p>
        </p:txBody>
      </p:sp>
      <p:sp>
        <p:nvSpPr>
          <p:cNvPr id="5" name="Text 0"/>
          <p:cNvSpPr>
            <a:spLocks noGrp="1"/>
          </p:cNvSpPr>
          <p:nvPr>
            <p:ph type="body" idx="101" hasCustomPrompt="1"/>
          </p:nvPr>
        </p:nvSpPr>
        <p:spPr>
          <a:xfrm>
            <a:off x="548640" y="2926080"/>
            <a:ext cx="8046720" cy="914400"/>
          </a:xfrm>
          <a:prstGeom prst="rect">
            <a:avLst/>
          </a:prstGeom>
          <a:noFill/>
          <a:ln/>
        </p:spPr>
        <p:txBody>
          <a:bodyPr wrap="square" lIns="0" tIns="0" rIns="0" bIns="0" rtlCol="0" anchor="t"/>
          <a:lstStyle/>
          <a:p>
            <a:pPr marL="0" indent="0" algn="l">
              <a:buNone/>
            </a:pPr>
            <a:r>
              <a:rPr lang="en-US" sz="1800" dirty="0">
                <a:solidFill>
                  <a:srgbClr val="C7D2FE"/>
                </a:solidFill>
              </a:rPr>
              <a:t>Concevoir, déployer et surveiller un modèle d'apprentissage automatique utilisable par une équipe de maintenance</a:t>
            </a:r>
            <a:endParaRPr lang="en-US" sz="1800" dirty="0"/>
          </a:p>
        </p:txBody>
      </p:sp>
      <p:sp>
        <p:nvSpPr>
          <p:cNvPr id="6" name="kc_2"/>
          <p:cNvSpPr/>
          <p:nvPr/>
        </p:nvSpPr>
        <p:spPr>
          <a:xfrm>
            <a:off x="548640" y="3931920"/>
            <a:ext cx="2560320" cy="777240"/>
          </a:xfrm>
          <a:prstGeom prst="roundRect">
            <a:avLst>
              <a:gd name="adj" fmla="val 9412"/>
            </a:avLst>
          </a:prstGeom>
          <a:solidFill>
            <a:srgbClr val="2E2A6B"/>
          </a:solidFill>
          <a:ln w="12700">
            <a:solidFill>
              <a:srgbClr val="2E2A6B"/>
            </a:solidFill>
            <a:prstDash val="solid"/>
          </a:ln>
        </p:spPr>
      </p:sp>
      <p:pic>
        <p:nvPicPr>
          <p:cNvPr id="7" name="ki_3" descr="preencoded.png"/>
          <p:cNvPicPr>
            <a:picLocks noChangeAspect="1"/>
          </p:cNvPicPr>
          <p:nvPr/>
        </p:nvPicPr>
        <p:blipFill>
          <a:blip r:embed="rId4"/>
          <a:stretch>
            <a:fillRect/>
          </a:stretch>
        </p:blipFill>
        <p:spPr>
          <a:xfrm>
            <a:off x="731520" y="4114800"/>
            <a:ext cx="384048" cy="384048"/>
          </a:xfrm>
          <a:prstGeom prst="rect">
            <a:avLst/>
          </a:prstGeom>
        </p:spPr>
      </p:pic>
      <p:sp>
        <p:nvSpPr>
          <p:cNvPr id="8" name="t_4"/>
          <p:cNvSpPr txBox="1"/>
          <p:nvPr/>
        </p:nvSpPr>
        <p:spPr>
          <a:xfrm>
            <a:off x="1280160" y="3986784"/>
            <a:ext cx="1783080" cy="347472"/>
          </a:xfrm>
          <a:prstGeom prst="rect">
            <a:avLst/>
          </a:prstGeom>
          <a:noFill/>
          <a:ln/>
        </p:spPr>
        <p:txBody>
          <a:bodyPr wrap="square" lIns="0" tIns="0" rIns="0" bIns="0" rtlCol="0" anchor="ctr"/>
          <a:lstStyle/>
          <a:p>
            <a:pPr marL="0" indent="0">
              <a:buNone/>
            </a:pPr>
            <a:r>
              <a:rPr lang="en-US" sz="1400" b="1" dirty="0">
                <a:solidFill>
                  <a:srgbClr val="FFFFFF"/>
                </a:solidFill>
              </a:rPr>
              <a:t>5 jours</a:t>
            </a:r>
            <a:endParaRPr lang="en-US" sz="1400" dirty="0"/>
          </a:p>
        </p:txBody>
      </p:sp>
      <p:sp>
        <p:nvSpPr>
          <p:cNvPr id="9" name="t_5"/>
          <p:cNvSpPr txBox="1"/>
          <p:nvPr/>
        </p:nvSpPr>
        <p:spPr>
          <a:xfrm>
            <a:off x="1280160" y="4315968"/>
            <a:ext cx="1783080" cy="320040"/>
          </a:xfrm>
          <a:prstGeom prst="rect">
            <a:avLst/>
          </a:prstGeom>
          <a:noFill/>
          <a:ln/>
        </p:spPr>
        <p:txBody>
          <a:bodyPr wrap="square" lIns="0" tIns="0" rIns="0" bIns="0" rtlCol="0" anchor="t"/>
          <a:lstStyle/>
          <a:p>
            <a:pPr marL="0" indent="0">
              <a:buNone/>
            </a:pPr>
            <a:r>
              <a:rPr lang="en-US" sz="1100" dirty="0">
                <a:solidFill>
                  <a:srgbClr val="DDE0FF"/>
                </a:solidFill>
              </a:rPr>
              <a:t>du lundi au vendredi</a:t>
            </a:r>
            <a:endParaRPr lang="en-US" sz="1100" dirty="0"/>
          </a:p>
        </p:txBody>
      </p:sp>
      <p:sp>
        <p:nvSpPr>
          <p:cNvPr id="10" name="kc_6"/>
          <p:cNvSpPr/>
          <p:nvPr/>
        </p:nvSpPr>
        <p:spPr>
          <a:xfrm>
            <a:off x="3291840" y="3931920"/>
            <a:ext cx="2560320" cy="777240"/>
          </a:xfrm>
          <a:prstGeom prst="roundRect">
            <a:avLst>
              <a:gd name="adj" fmla="val 9412"/>
            </a:avLst>
          </a:prstGeom>
          <a:solidFill>
            <a:srgbClr val="2E2A6B"/>
          </a:solidFill>
          <a:ln w="12700">
            <a:solidFill>
              <a:srgbClr val="2E2A6B"/>
            </a:solidFill>
            <a:prstDash val="solid"/>
          </a:ln>
        </p:spPr>
      </p:sp>
      <p:pic>
        <p:nvPicPr>
          <p:cNvPr id="11" name="ki_7" descr="preencoded.png"/>
          <p:cNvPicPr>
            <a:picLocks noChangeAspect="1"/>
          </p:cNvPicPr>
          <p:nvPr/>
        </p:nvPicPr>
        <p:blipFill>
          <a:blip r:embed="rId5"/>
          <a:stretch>
            <a:fillRect/>
          </a:stretch>
        </p:blipFill>
        <p:spPr>
          <a:xfrm>
            <a:off x="3474720" y="4114800"/>
            <a:ext cx="384048" cy="384048"/>
          </a:xfrm>
          <a:prstGeom prst="rect">
            <a:avLst/>
          </a:prstGeom>
        </p:spPr>
      </p:pic>
      <p:sp>
        <p:nvSpPr>
          <p:cNvPr id="12" name="t_8"/>
          <p:cNvSpPr txBox="1"/>
          <p:nvPr/>
        </p:nvSpPr>
        <p:spPr>
          <a:xfrm>
            <a:off x="4023360" y="3986784"/>
            <a:ext cx="1783080" cy="347472"/>
          </a:xfrm>
          <a:prstGeom prst="rect">
            <a:avLst/>
          </a:prstGeom>
          <a:noFill/>
          <a:ln/>
        </p:spPr>
        <p:txBody>
          <a:bodyPr wrap="square" lIns="0" tIns="0" rIns="0" bIns="0" rtlCol="0" anchor="ctr"/>
          <a:lstStyle/>
          <a:p>
            <a:pPr marL="0" indent="0">
              <a:buNone/>
            </a:pPr>
            <a:r>
              <a:rPr lang="en-US" sz="1400" b="1" dirty="0">
                <a:solidFill>
                  <a:srgbClr val="FFFFFF"/>
                </a:solidFill>
              </a:rPr>
              <a:t>Équipes de 2 </a:t>
            </a:r>
            <a:r>
              <a:rPr lang="en-US" sz="1400" b="1" dirty="0" err="1">
                <a:solidFill>
                  <a:srgbClr val="FFFFFF"/>
                </a:solidFill>
              </a:rPr>
              <a:t>ou</a:t>
            </a:r>
            <a:r>
              <a:rPr lang="en-US" sz="1400" b="1" dirty="0">
                <a:solidFill>
                  <a:srgbClr val="FFFFFF"/>
                </a:solidFill>
              </a:rPr>
              <a:t> 3</a:t>
            </a:r>
            <a:endParaRPr lang="en-US" sz="1400" dirty="0"/>
          </a:p>
        </p:txBody>
      </p:sp>
      <p:sp>
        <p:nvSpPr>
          <p:cNvPr id="13" name="t_9"/>
          <p:cNvSpPr txBox="1"/>
          <p:nvPr/>
        </p:nvSpPr>
        <p:spPr>
          <a:xfrm>
            <a:off x="4023360" y="4315968"/>
            <a:ext cx="1783080" cy="320040"/>
          </a:xfrm>
          <a:prstGeom prst="rect">
            <a:avLst/>
          </a:prstGeom>
          <a:noFill/>
          <a:ln/>
        </p:spPr>
        <p:txBody>
          <a:bodyPr wrap="square" lIns="0" tIns="0" rIns="0" bIns="0" rtlCol="0" anchor="t"/>
          <a:lstStyle/>
          <a:p>
            <a:pPr marL="0" indent="0">
              <a:buNone/>
            </a:pPr>
            <a:r>
              <a:rPr lang="en-US" sz="1100" dirty="0">
                <a:solidFill>
                  <a:srgbClr val="DDE0FF"/>
                </a:solidFill>
              </a:rPr>
              <a:t>rôles répartis</a:t>
            </a:r>
            <a:endParaRPr lang="en-US" sz="1100" dirty="0"/>
          </a:p>
        </p:txBody>
      </p:sp>
      <p:sp>
        <p:nvSpPr>
          <p:cNvPr id="18" name="t_1">
            <a:extLst>
              <a:ext uri="{FF2B5EF4-FFF2-40B4-BE49-F238E27FC236}">
                <a16:creationId xmlns:a16="http://schemas.microsoft.com/office/drawing/2014/main" id="{5FF9777F-97FD-89A2-3D66-C152764BF9F7}"/>
              </a:ext>
            </a:extLst>
          </p:cNvPr>
          <p:cNvSpPr txBox="1"/>
          <p:nvPr/>
        </p:nvSpPr>
        <p:spPr>
          <a:xfrm>
            <a:off x="548640" y="4870938"/>
            <a:ext cx="2377440" cy="274320"/>
          </a:xfrm>
          <a:prstGeom prst="rect">
            <a:avLst/>
          </a:prstGeom>
          <a:noFill/>
          <a:ln/>
        </p:spPr>
        <p:txBody>
          <a:bodyPr wrap="square" lIns="0" tIns="0" rIns="0" bIns="0" rtlCol="0" anchor="t"/>
          <a:lstStyle/>
          <a:p>
            <a:pPr marL="0" indent="0">
              <a:buNone/>
            </a:pPr>
            <a:r>
              <a:rPr lang="en-US" sz="1200" b="1" dirty="0">
                <a:solidFill>
                  <a:srgbClr val="F59E0B"/>
                </a:solidFill>
              </a:rPr>
              <a:t>Dr TIEMTORE Souleymane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6675120" cy="640080"/>
          </a:xfrm>
          <a:prstGeom prst="rect">
            <a:avLst/>
          </a:prstGeom>
          <a:noFill/>
          <a:ln/>
        </p:spPr>
        <p:txBody>
          <a:bodyPr wrap="square" lIns="0" tIns="0" rIns="0" bIns="0" rtlCol="0" anchor="ctr"/>
          <a:lstStyle/>
          <a:p>
            <a:pPr marL="0" indent="0" algn="l">
              <a:buNone/>
            </a:pPr>
            <a:r>
              <a:rPr lang="en-US" sz="2600" b="1" dirty="0">
                <a:solidFill>
                  <a:schemeClr val="tx2"/>
                </a:solidFill>
              </a:rPr>
              <a:t>Le sujet et votre mission</a:t>
            </a:r>
            <a:endParaRPr lang="en-US" sz="2600" dirty="0"/>
          </a:p>
        </p:txBody>
      </p:sp>
      <p:sp>
        <p:nvSpPr>
          <p:cNvPr id="3" name="pill_14"/>
          <p:cNvSpPr/>
          <p:nvPr/>
        </p:nvSpPr>
        <p:spPr>
          <a:xfrm>
            <a:off x="7269480" y="393192"/>
            <a:ext cx="1417320" cy="365760"/>
          </a:xfrm>
          <a:prstGeom prst="roundRect">
            <a:avLst>
              <a:gd name="adj" fmla="val 50000"/>
            </a:avLst>
          </a:prstGeom>
          <a:solidFill>
            <a:schemeClr val="accent1"/>
          </a:solidFill>
          <a:ln w="12700">
            <a:solidFill>
              <a:schemeClr val="accent1"/>
            </a:solidFill>
            <a:prstDash val="solid"/>
          </a:ln>
        </p:spPr>
      </p:sp>
      <p:sp>
        <p:nvSpPr>
          <p:cNvPr id="4" name="t_15"/>
          <p:cNvSpPr txBox="1"/>
          <p:nvPr/>
        </p:nvSpPr>
        <p:spPr>
          <a:xfrm>
            <a:off x="7269480" y="393192"/>
            <a:ext cx="1417320" cy="365760"/>
          </a:xfrm>
          <a:prstGeom prst="rect">
            <a:avLst/>
          </a:prstGeom>
          <a:noFill/>
          <a:ln/>
        </p:spPr>
        <p:txBody>
          <a:bodyPr wrap="square" lIns="0" tIns="0" rIns="0" bIns="0" rtlCol="0" anchor="ctr"/>
          <a:lstStyle/>
          <a:p>
            <a:pPr marL="0" indent="0" algn="ctr">
              <a:buNone/>
            </a:pPr>
            <a:r>
              <a:rPr lang="en-US" sz="1100" b="1" dirty="0">
                <a:solidFill>
                  <a:schemeClr val="bg1"/>
                </a:solidFill>
              </a:rPr>
              <a:t>SUJET</a:t>
            </a:r>
            <a:endParaRPr lang="en-US" sz="1100" dirty="0"/>
          </a:p>
        </p:txBody>
      </p:sp>
      <p:sp>
        <p:nvSpPr>
          <p:cNvPr id="5" name="card_16"/>
          <p:cNvSpPr/>
          <p:nvPr/>
        </p:nvSpPr>
        <p:spPr>
          <a:xfrm>
            <a:off x="457200" y="1051560"/>
            <a:ext cx="8229600" cy="960120"/>
          </a:xfrm>
          <a:prstGeom prst="roundRect">
            <a:avLst>
              <a:gd name="adj" fmla="val 7619"/>
            </a:avLst>
          </a:prstGeom>
          <a:solidFill>
            <a:srgbClr val="EEF0F8"/>
          </a:solidFill>
          <a:ln w="12700">
            <a:solidFill>
              <a:srgbClr val="EEF0F8"/>
            </a:solidFill>
            <a:prstDash val="solid"/>
          </a:ln>
        </p:spPr>
      </p:sp>
      <p:sp>
        <p:nvSpPr>
          <p:cNvPr id="6" name="t_17"/>
          <p:cNvSpPr txBox="1"/>
          <p:nvPr/>
        </p:nvSpPr>
        <p:spPr>
          <a:xfrm>
            <a:off x="640080" y="1051560"/>
            <a:ext cx="7863840" cy="960120"/>
          </a:xfrm>
          <a:prstGeom prst="rect">
            <a:avLst/>
          </a:prstGeom>
          <a:noFill/>
          <a:ln/>
        </p:spPr>
        <p:txBody>
          <a:bodyPr wrap="square" lIns="0" tIns="0" rIns="0" bIns="0" rtlCol="0" anchor="ctr"/>
          <a:lstStyle/>
          <a:p>
            <a:pPr marL="0" indent="0">
              <a:buNone/>
            </a:pPr>
            <a:r>
              <a:rPr lang="en-US" sz="1300" b="1" dirty="0">
                <a:solidFill>
                  <a:schemeClr val="tx2"/>
                </a:solidFill>
              </a:rPr>
              <a:t>Contexte. </a:t>
            </a:r>
            <a:r>
              <a:rPr lang="en-US" sz="1300" dirty="0">
                <a:solidFill>
                  <a:schemeClr val="tx1"/>
                </a:solidFill>
              </a:rPr>
              <a:t>Un service de l'hydraulique gère des centaines de forages. Les pannes privent des villages d'eau pendant des semaines et les équipes interviennent toujours après coup. Il vous demande un outil qui estime le risque de panne de chaque forage dans les 90 jours, pour planifier les visites préventives.</a:t>
            </a:r>
            <a:endParaRPr lang="en-US" sz="1300" dirty="0"/>
          </a:p>
        </p:txBody>
      </p:sp>
      <p:sp>
        <p:nvSpPr>
          <p:cNvPr id="7" name="card_18"/>
          <p:cNvSpPr/>
          <p:nvPr/>
        </p:nvSpPr>
        <p:spPr>
          <a:xfrm>
            <a:off x="457200" y="2194560"/>
            <a:ext cx="2609088" cy="2468880"/>
          </a:xfrm>
          <a:prstGeom prst="roundRect">
            <a:avLst>
              <a:gd name="adj" fmla="val 2963"/>
            </a:avLst>
          </a:prstGeom>
          <a:solidFill>
            <a:schemeClr val="bg2"/>
          </a:solidFill>
          <a:ln w="12700">
            <a:solidFill>
              <a:schemeClr val="bg2"/>
            </a:solidFill>
            <a:prstDash val="solid"/>
          </a:ln>
        </p:spPr>
      </p:sp>
      <p:sp>
        <p:nvSpPr>
          <p:cNvPr id="8" name="cb_19"/>
          <p:cNvSpPr/>
          <p:nvPr/>
        </p:nvSpPr>
        <p:spPr>
          <a:xfrm>
            <a:off x="640080" y="2377440"/>
            <a:ext cx="548640" cy="548640"/>
          </a:xfrm>
          <a:prstGeom prst="ellipse">
            <a:avLst/>
          </a:prstGeom>
          <a:solidFill>
            <a:srgbClr val="4F46E5"/>
          </a:solidFill>
          <a:ln w="12700">
            <a:solidFill>
              <a:srgbClr val="4F46E5"/>
            </a:solidFill>
            <a:prstDash val="solid"/>
          </a:ln>
        </p:spPr>
      </p:sp>
      <p:pic>
        <p:nvPicPr>
          <p:cNvPr id="9" name="ci_20" descr="preencoded.png"/>
          <p:cNvPicPr>
            <a:picLocks noChangeAspect="1"/>
          </p:cNvPicPr>
          <p:nvPr/>
        </p:nvPicPr>
        <p:blipFill>
          <a:blip r:embed="rId3"/>
          <a:stretch>
            <a:fillRect/>
          </a:stretch>
        </p:blipFill>
        <p:spPr>
          <a:xfrm>
            <a:off x="777240" y="2514600"/>
            <a:ext cx="274320" cy="274320"/>
          </a:xfrm>
          <a:prstGeom prst="rect">
            <a:avLst/>
          </a:prstGeom>
        </p:spPr>
      </p:pic>
      <p:sp>
        <p:nvSpPr>
          <p:cNvPr id="10" name="t_21"/>
          <p:cNvSpPr txBox="1"/>
          <p:nvPr/>
        </p:nvSpPr>
        <p:spPr>
          <a:xfrm>
            <a:off x="1325880" y="2377440"/>
            <a:ext cx="1603248" cy="548640"/>
          </a:xfrm>
          <a:prstGeom prst="rect">
            <a:avLst/>
          </a:prstGeom>
          <a:noFill/>
          <a:ln/>
        </p:spPr>
        <p:txBody>
          <a:bodyPr wrap="square" lIns="0" tIns="0" rIns="0" bIns="0" rtlCol="0" anchor="ctr"/>
          <a:lstStyle/>
          <a:p>
            <a:pPr marL="0" indent="0">
              <a:buNone/>
            </a:pPr>
            <a:r>
              <a:rPr lang="en-US" sz="1400" b="1" dirty="0">
                <a:solidFill>
                  <a:schemeClr val="tx2"/>
                </a:solidFill>
              </a:rPr>
              <a:t>Les données fournies</a:t>
            </a:r>
            <a:endParaRPr lang="en-US" sz="1400" dirty="0"/>
          </a:p>
        </p:txBody>
      </p:sp>
      <p:sp>
        <p:nvSpPr>
          <p:cNvPr id="11" name="t_22"/>
          <p:cNvSpPr txBox="1"/>
          <p:nvPr/>
        </p:nvSpPr>
        <p:spPr>
          <a:xfrm>
            <a:off x="640080" y="3063240"/>
            <a:ext cx="2243328" cy="1508760"/>
          </a:xfrm>
          <a:prstGeom prst="rect">
            <a:avLst/>
          </a:prstGeom>
          <a:noFill/>
          <a:ln/>
        </p:spPr>
        <p:txBody>
          <a:bodyPr wrap="square" lIns="0" tIns="0" rIns="0" bIns="0" rtlCol="0" anchor="t"/>
          <a:lstStyle/>
          <a:p>
            <a:pPr marL="0" indent="0">
              <a:buNone/>
            </a:pPr>
            <a:r>
              <a:rPr lang="en-US" sz="1150" dirty="0">
                <a:solidFill>
                  <a:schemeClr val="tx1"/>
                </a:solidFill>
              </a:rPr>
              <a:t>Historique de 3 000 forages : âge, profondeur, débit, usagers, jours depuis la maintenance, pannes passées, type de pompe, région. Cible : </a:t>
            </a:r>
            <a:r>
              <a:rPr lang="en-US" sz="1150" b="1" dirty="0">
                <a:solidFill>
                  <a:schemeClr val="accent2"/>
                </a:solidFill>
                <a:latin typeface="Courier New" pitchFamily="34" charset="0"/>
                <a:ea typeface="Courier New" pitchFamily="34" charset="-122"/>
                <a:cs typeface="Courier New" pitchFamily="34" charset="-120"/>
              </a:rPr>
              <a:t>panne_90j</a:t>
            </a:r>
            <a:r>
              <a:rPr lang="en-US" sz="1150" dirty="0">
                <a:solidFill>
                  <a:schemeClr val="tx1"/>
                </a:solidFill>
              </a:rPr>
              <a:t> (0/1). Un second fichier simule un mois récent.</a:t>
            </a:r>
            <a:endParaRPr lang="en-US" sz="1150" dirty="0"/>
          </a:p>
        </p:txBody>
      </p:sp>
      <p:sp>
        <p:nvSpPr>
          <p:cNvPr id="12" name="card_23"/>
          <p:cNvSpPr/>
          <p:nvPr/>
        </p:nvSpPr>
        <p:spPr>
          <a:xfrm>
            <a:off x="3267456" y="2194560"/>
            <a:ext cx="2609088" cy="2468880"/>
          </a:xfrm>
          <a:prstGeom prst="roundRect">
            <a:avLst>
              <a:gd name="adj" fmla="val 2963"/>
            </a:avLst>
          </a:prstGeom>
          <a:solidFill>
            <a:schemeClr val="bg2"/>
          </a:solidFill>
          <a:ln w="12700">
            <a:solidFill>
              <a:schemeClr val="bg2"/>
            </a:solidFill>
            <a:prstDash val="solid"/>
          </a:ln>
        </p:spPr>
      </p:sp>
      <p:sp>
        <p:nvSpPr>
          <p:cNvPr id="13" name="cb_24"/>
          <p:cNvSpPr/>
          <p:nvPr/>
        </p:nvSpPr>
        <p:spPr>
          <a:xfrm>
            <a:off x="3450336" y="2377440"/>
            <a:ext cx="548640" cy="548640"/>
          </a:xfrm>
          <a:prstGeom prst="ellipse">
            <a:avLst/>
          </a:prstGeom>
          <a:solidFill>
            <a:srgbClr val="4F46E5"/>
          </a:solidFill>
          <a:ln w="12700">
            <a:solidFill>
              <a:srgbClr val="4F46E5"/>
            </a:solidFill>
            <a:prstDash val="solid"/>
          </a:ln>
        </p:spPr>
      </p:sp>
      <p:pic>
        <p:nvPicPr>
          <p:cNvPr id="14" name="ci_25" descr="preencoded.png"/>
          <p:cNvPicPr>
            <a:picLocks noChangeAspect="1"/>
          </p:cNvPicPr>
          <p:nvPr/>
        </p:nvPicPr>
        <p:blipFill>
          <a:blip r:embed="rId4"/>
          <a:stretch>
            <a:fillRect/>
          </a:stretch>
        </p:blipFill>
        <p:spPr>
          <a:xfrm>
            <a:off x="3587496" y="2514600"/>
            <a:ext cx="274320" cy="274320"/>
          </a:xfrm>
          <a:prstGeom prst="rect">
            <a:avLst/>
          </a:prstGeom>
        </p:spPr>
      </p:pic>
      <p:sp>
        <p:nvSpPr>
          <p:cNvPr id="15" name="t_26"/>
          <p:cNvSpPr txBox="1"/>
          <p:nvPr/>
        </p:nvSpPr>
        <p:spPr>
          <a:xfrm>
            <a:off x="4136136" y="2377440"/>
            <a:ext cx="1603248" cy="548640"/>
          </a:xfrm>
          <a:prstGeom prst="rect">
            <a:avLst/>
          </a:prstGeom>
          <a:noFill/>
          <a:ln/>
        </p:spPr>
        <p:txBody>
          <a:bodyPr wrap="square" lIns="0" tIns="0" rIns="0" bIns="0" rtlCol="0" anchor="ctr"/>
          <a:lstStyle/>
          <a:p>
            <a:pPr marL="0" indent="0">
              <a:buNone/>
            </a:pPr>
            <a:r>
              <a:rPr lang="en-US" sz="1400" b="1" dirty="0">
                <a:solidFill>
                  <a:schemeClr val="tx2"/>
                </a:solidFill>
              </a:rPr>
              <a:t>Votre mission</a:t>
            </a:r>
            <a:endParaRPr lang="en-US" sz="1400" dirty="0"/>
          </a:p>
        </p:txBody>
      </p:sp>
      <p:sp>
        <p:nvSpPr>
          <p:cNvPr id="16" name="t_27"/>
          <p:cNvSpPr txBox="1"/>
          <p:nvPr/>
        </p:nvSpPr>
        <p:spPr>
          <a:xfrm>
            <a:off x="3450336" y="3063240"/>
            <a:ext cx="2243328" cy="1508760"/>
          </a:xfrm>
          <a:prstGeom prst="rect">
            <a:avLst/>
          </a:prstGeom>
          <a:noFill/>
          <a:ln/>
        </p:spPr>
        <p:txBody>
          <a:bodyPr wrap="square" lIns="0" tIns="0" rIns="0" bIns="0" rtlCol="0" anchor="t"/>
          <a:lstStyle/>
          <a:p>
            <a:pPr marL="0" indent="0">
              <a:buNone/>
            </a:pPr>
            <a:r>
              <a:rPr lang="en-US" sz="1150" dirty="0">
                <a:solidFill>
                  <a:schemeClr val="tx1"/>
                </a:solidFill>
              </a:rPr>
              <a:t>Livrer un service de prédiction fiable : un modèle reproductible et tracé, exposé par une API, testé, conteneurisé, et surveillé pour détecter le moment où il faut le ré-entraîner.</a:t>
            </a:r>
            <a:endParaRPr lang="en-US" sz="1150" dirty="0"/>
          </a:p>
        </p:txBody>
      </p:sp>
      <p:sp>
        <p:nvSpPr>
          <p:cNvPr id="17" name="card_28"/>
          <p:cNvSpPr/>
          <p:nvPr/>
        </p:nvSpPr>
        <p:spPr>
          <a:xfrm>
            <a:off x="6077712" y="2194560"/>
            <a:ext cx="2609088" cy="2468880"/>
          </a:xfrm>
          <a:prstGeom prst="roundRect">
            <a:avLst>
              <a:gd name="adj" fmla="val 2963"/>
            </a:avLst>
          </a:prstGeom>
          <a:solidFill>
            <a:schemeClr val="bg2"/>
          </a:solidFill>
          <a:ln w="12700">
            <a:solidFill>
              <a:schemeClr val="bg2"/>
            </a:solidFill>
            <a:prstDash val="solid"/>
          </a:ln>
        </p:spPr>
      </p:sp>
      <p:sp>
        <p:nvSpPr>
          <p:cNvPr id="18" name="cb_29"/>
          <p:cNvSpPr/>
          <p:nvPr/>
        </p:nvSpPr>
        <p:spPr>
          <a:xfrm>
            <a:off x="6260592" y="2377440"/>
            <a:ext cx="548640" cy="548640"/>
          </a:xfrm>
          <a:prstGeom prst="ellipse">
            <a:avLst/>
          </a:prstGeom>
          <a:solidFill>
            <a:srgbClr val="4F46E5"/>
          </a:solidFill>
          <a:ln w="12700">
            <a:solidFill>
              <a:srgbClr val="4F46E5"/>
            </a:solidFill>
            <a:prstDash val="solid"/>
          </a:ln>
        </p:spPr>
      </p:sp>
      <p:pic>
        <p:nvPicPr>
          <p:cNvPr id="19" name="ci_30" descr="preencoded.png"/>
          <p:cNvPicPr>
            <a:picLocks noChangeAspect="1"/>
          </p:cNvPicPr>
          <p:nvPr/>
        </p:nvPicPr>
        <p:blipFill>
          <a:blip r:embed="rId5"/>
          <a:stretch>
            <a:fillRect/>
          </a:stretch>
        </p:blipFill>
        <p:spPr>
          <a:xfrm>
            <a:off x="6397752" y="2514600"/>
            <a:ext cx="274320" cy="274320"/>
          </a:xfrm>
          <a:prstGeom prst="rect">
            <a:avLst/>
          </a:prstGeom>
        </p:spPr>
      </p:pic>
      <p:sp>
        <p:nvSpPr>
          <p:cNvPr id="20" name="t_31"/>
          <p:cNvSpPr txBox="1"/>
          <p:nvPr/>
        </p:nvSpPr>
        <p:spPr>
          <a:xfrm>
            <a:off x="6946392" y="2377440"/>
            <a:ext cx="1603248" cy="548640"/>
          </a:xfrm>
          <a:prstGeom prst="rect">
            <a:avLst/>
          </a:prstGeom>
          <a:noFill/>
          <a:ln/>
        </p:spPr>
        <p:txBody>
          <a:bodyPr wrap="square" lIns="0" tIns="0" rIns="0" bIns="0" rtlCol="0" anchor="ctr"/>
          <a:lstStyle/>
          <a:p>
            <a:pPr marL="0" indent="0">
              <a:buNone/>
            </a:pPr>
            <a:r>
              <a:rPr lang="en-US" sz="1400" b="1" dirty="0">
                <a:solidFill>
                  <a:schemeClr val="tx2"/>
                </a:solidFill>
              </a:rPr>
              <a:t>Contraintes techniques</a:t>
            </a:r>
            <a:endParaRPr lang="en-US" sz="1400" dirty="0"/>
          </a:p>
        </p:txBody>
      </p:sp>
      <p:sp>
        <p:nvSpPr>
          <p:cNvPr id="21" name="t_32"/>
          <p:cNvSpPr txBox="1"/>
          <p:nvPr/>
        </p:nvSpPr>
        <p:spPr>
          <a:xfrm>
            <a:off x="6260592" y="3063240"/>
            <a:ext cx="2243328" cy="1508760"/>
          </a:xfrm>
          <a:prstGeom prst="rect">
            <a:avLst/>
          </a:prstGeom>
          <a:noFill/>
          <a:ln/>
        </p:spPr>
        <p:txBody>
          <a:bodyPr wrap="square" lIns="0" tIns="0" rIns="0" bIns="0" rtlCol="0" anchor="t"/>
          <a:lstStyle/>
          <a:p>
            <a:pPr marL="0" indent="0">
              <a:buNone/>
            </a:pPr>
            <a:r>
              <a:rPr lang="en-US" sz="1150" dirty="0">
                <a:solidFill>
                  <a:schemeClr val="tx1"/>
                </a:solidFill>
              </a:rPr>
              <a:t>Python, scikit-learn, MLflow, FastAPI, pytest, Docker, GitHub Actions. Tout le code dans un dépôt Git. Aucun résultat présenté sans le script qui le produit.</a:t>
            </a:r>
            <a:endParaRPr lang="en-US" sz="115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6675120" cy="640080"/>
          </a:xfrm>
          <a:prstGeom prst="rect">
            <a:avLst/>
          </a:prstGeom>
          <a:noFill/>
          <a:ln/>
        </p:spPr>
        <p:txBody>
          <a:bodyPr wrap="square" lIns="0" tIns="0" rIns="0" bIns="0" rtlCol="0" anchor="ctr"/>
          <a:lstStyle/>
          <a:p>
            <a:pPr marL="0" indent="0" algn="l">
              <a:buNone/>
            </a:pPr>
            <a:r>
              <a:rPr lang="en-US" sz="2600" b="1" dirty="0">
                <a:solidFill>
                  <a:schemeClr val="tx2"/>
                </a:solidFill>
              </a:rPr>
              <a:t>Le déroulé des 5 jours</a:t>
            </a:r>
            <a:endParaRPr lang="en-US" sz="2600" dirty="0"/>
          </a:p>
        </p:txBody>
      </p:sp>
      <p:sp>
        <p:nvSpPr>
          <p:cNvPr id="3" name="pill_33"/>
          <p:cNvSpPr/>
          <p:nvPr/>
        </p:nvSpPr>
        <p:spPr>
          <a:xfrm>
            <a:off x="7269480" y="393192"/>
            <a:ext cx="1417320" cy="365760"/>
          </a:xfrm>
          <a:prstGeom prst="roundRect">
            <a:avLst>
              <a:gd name="adj" fmla="val 50000"/>
            </a:avLst>
          </a:prstGeom>
          <a:solidFill>
            <a:schemeClr val="accent4"/>
          </a:solidFill>
          <a:ln w="12700">
            <a:solidFill>
              <a:schemeClr val="accent4"/>
            </a:solidFill>
            <a:prstDash val="solid"/>
          </a:ln>
        </p:spPr>
      </p:sp>
      <p:sp>
        <p:nvSpPr>
          <p:cNvPr id="4" name="t_34"/>
          <p:cNvSpPr txBox="1"/>
          <p:nvPr/>
        </p:nvSpPr>
        <p:spPr>
          <a:xfrm>
            <a:off x="7269480" y="393192"/>
            <a:ext cx="1417320" cy="365760"/>
          </a:xfrm>
          <a:prstGeom prst="rect">
            <a:avLst/>
          </a:prstGeom>
          <a:noFill/>
          <a:ln/>
        </p:spPr>
        <p:txBody>
          <a:bodyPr wrap="square" lIns="0" tIns="0" rIns="0" bIns="0" rtlCol="0" anchor="ctr"/>
          <a:lstStyle/>
          <a:p>
            <a:pPr marL="0" indent="0" algn="ctr">
              <a:buNone/>
            </a:pPr>
            <a:r>
              <a:rPr lang="en-US" sz="1100" b="1" dirty="0">
                <a:solidFill>
                  <a:schemeClr val="tx1"/>
                </a:solidFill>
              </a:rPr>
              <a:t>PLANNING</a:t>
            </a:r>
            <a:endParaRPr lang="en-US" sz="1100" dirty="0"/>
          </a:p>
        </p:txBody>
      </p:sp>
      <p:sp>
        <p:nvSpPr>
          <p:cNvPr id="5" name="card_35"/>
          <p:cNvSpPr/>
          <p:nvPr/>
        </p:nvSpPr>
        <p:spPr>
          <a:xfrm>
            <a:off x="457200" y="1051560"/>
            <a:ext cx="1554480" cy="3611880"/>
          </a:xfrm>
          <a:prstGeom prst="roundRect">
            <a:avLst>
              <a:gd name="adj" fmla="val 4706"/>
            </a:avLst>
          </a:prstGeom>
          <a:solidFill>
            <a:schemeClr val="bg2"/>
          </a:solidFill>
          <a:ln w="12700">
            <a:solidFill>
              <a:schemeClr val="bg2"/>
            </a:solidFill>
            <a:prstDash val="solid"/>
          </a:ln>
        </p:spPr>
      </p:sp>
      <p:sp>
        <p:nvSpPr>
          <p:cNvPr id="6" name="dh_36"/>
          <p:cNvSpPr/>
          <p:nvPr/>
        </p:nvSpPr>
        <p:spPr>
          <a:xfrm>
            <a:off x="457200" y="1051560"/>
            <a:ext cx="1554480" cy="411480"/>
          </a:xfrm>
          <a:prstGeom prst="rect">
            <a:avLst/>
          </a:prstGeom>
          <a:solidFill>
            <a:srgbClr val="4F46E5"/>
          </a:solidFill>
          <a:ln w="12700">
            <a:solidFill>
              <a:srgbClr val="4F46E5"/>
            </a:solidFill>
            <a:prstDash val="solid"/>
          </a:ln>
        </p:spPr>
      </p:sp>
      <p:sp>
        <p:nvSpPr>
          <p:cNvPr id="7" name="t_37"/>
          <p:cNvSpPr txBox="1"/>
          <p:nvPr/>
        </p:nvSpPr>
        <p:spPr>
          <a:xfrm>
            <a:off x="457200" y="1051560"/>
            <a:ext cx="1554480" cy="411480"/>
          </a:xfrm>
          <a:prstGeom prst="rect">
            <a:avLst/>
          </a:prstGeom>
          <a:noFill/>
          <a:ln/>
        </p:spPr>
        <p:txBody>
          <a:bodyPr wrap="square" lIns="0" tIns="0" rIns="0" bIns="0" rtlCol="0" anchor="ctr"/>
          <a:lstStyle/>
          <a:p>
            <a:pPr marL="0" indent="0" algn="ctr">
              <a:buNone/>
            </a:pPr>
            <a:r>
              <a:rPr lang="en-US" sz="1250" b="1" dirty="0">
                <a:solidFill>
                  <a:srgbClr val="FFFFFF"/>
                </a:solidFill>
              </a:rPr>
              <a:t>J1 · Lundi</a:t>
            </a:r>
            <a:endParaRPr lang="en-US" sz="1250" dirty="0"/>
          </a:p>
        </p:txBody>
      </p:sp>
      <p:sp>
        <p:nvSpPr>
          <p:cNvPr id="8" name="do_38"/>
          <p:cNvSpPr/>
          <p:nvPr/>
        </p:nvSpPr>
        <p:spPr>
          <a:xfrm>
            <a:off x="978408" y="1600200"/>
            <a:ext cx="512064" cy="512064"/>
          </a:xfrm>
          <a:prstGeom prst="ellipse">
            <a:avLst/>
          </a:prstGeom>
          <a:solidFill>
            <a:srgbClr val="0E7490"/>
          </a:solidFill>
          <a:ln w="12700">
            <a:solidFill>
              <a:srgbClr val="0E7490"/>
            </a:solidFill>
            <a:prstDash val="solid"/>
          </a:ln>
        </p:spPr>
      </p:sp>
      <p:pic>
        <p:nvPicPr>
          <p:cNvPr id="9" name="di_39" descr="preencoded.png"/>
          <p:cNvPicPr>
            <a:picLocks noChangeAspect="1"/>
          </p:cNvPicPr>
          <p:nvPr/>
        </p:nvPicPr>
        <p:blipFill>
          <a:blip r:embed="rId3"/>
          <a:stretch>
            <a:fillRect/>
          </a:stretch>
        </p:blipFill>
        <p:spPr>
          <a:xfrm>
            <a:off x="1106424" y="1728216"/>
            <a:ext cx="256032" cy="256032"/>
          </a:xfrm>
          <a:prstGeom prst="rect">
            <a:avLst/>
          </a:prstGeom>
        </p:spPr>
      </p:pic>
      <p:sp>
        <p:nvSpPr>
          <p:cNvPr id="10" name="t_40"/>
          <p:cNvSpPr txBox="1"/>
          <p:nvPr/>
        </p:nvSpPr>
        <p:spPr>
          <a:xfrm>
            <a:off x="502920" y="2194560"/>
            <a:ext cx="1463040" cy="365760"/>
          </a:xfrm>
          <a:prstGeom prst="rect">
            <a:avLst/>
          </a:prstGeom>
          <a:noFill/>
          <a:ln/>
        </p:spPr>
        <p:txBody>
          <a:bodyPr wrap="square" lIns="0" tIns="0" rIns="0" bIns="0" rtlCol="0" anchor="ctr"/>
          <a:lstStyle/>
          <a:p>
            <a:pPr marL="0" indent="0" algn="ctr">
              <a:buNone/>
            </a:pPr>
            <a:r>
              <a:rPr lang="en-US" sz="1350" b="1" dirty="0">
                <a:solidFill>
                  <a:schemeClr val="tx2"/>
                </a:solidFill>
              </a:rPr>
              <a:t>Données</a:t>
            </a:r>
            <a:endParaRPr lang="en-US" sz="1350" dirty="0"/>
          </a:p>
        </p:txBody>
      </p:sp>
      <p:pic>
        <p:nvPicPr>
          <p:cNvPr id="11" name="ok_41" descr="preencoded.png"/>
          <p:cNvPicPr>
            <a:picLocks noChangeAspect="1"/>
          </p:cNvPicPr>
          <p:nvPr/>
        </p:nvPicPr>
        <p:blipFill>
          <a:blip r:embed="rId4"/>
          <a:stretch>
            <a:fillRect/>
          </a:stretch>
        </p:blipFill>
        <p:spPr>
          <a:xfrm>
            <a:off x="566928" y="2752344"/>
            <a:ext cx="182880" cy="182880"/>
          </a:xfrm>
          <a:prstGeom prst="rect">
            <a:avLst/>
          </a:prstGeom>
        </p:spPr>
      </p:pic>
      <p:sp>
        <p:nvSpPr>
          <p:cNvPr id="12" name="t_42"/>
          <p:cNvSpPr txBox="1"/>
          <p:nvPr/>
        </p:nvSpPr>
        <p:spPr>
          <a:xfrm>
            <a:off x="804672" y="2697480"/>
            <a:ext cx="1170432" cy="438912"/>
          </a:xfrm>
          <a:prstGeom prst="rect">
            <a:avLst/>
          </a:prstGeom>
          <a:noFill/>
          <a:ln/>
        </p:spPr>
        <p:txBody>
          <a:bodyPr wrap="square" lIns="0" tIns="0" rIns="0" bIns="0" rtlCol="0" anchor="t"/>
          <a:lstStyle/>
          <a:p>
            <a:pPr marL="0" indent="0">
              <a:buNone/>
            </a:pPr>
            <a:r>
              <a:rPr lang="en-US" sz="1050" dirty="0">
                <a:solidFill>
                  <a:schemeClr val="tx1"/>
                </a:solidFill>
              </a:rPr>
              <a:t>Dépôt Git et structure</a:t>
            </a:r>
            <a:endParaRPr lang="en-US" sz="1050" dirty="0"/>
          </a:p>
        </p:txBody>
      </p:sp>
      <p:pic>
        <p:nvPicPr>
          <p:cNvPr id="13" name="ok_43" descr="preencoded.png"/>
          <p:cNvPicPr>
            <a:picLocks noChangeAspect="1"/>
          </p:cNvPicPr>
          <p:nvPr/>
        </p:nvPicPr>
        <p:blipFill>
          <a:blip r:embed="rId4"/>
          <a:stretch>
            <a:fillRect/>
          </a:stretch>
        </p:blipFill>
        <p:spPr>
          <a:xfrm>
            <a:off x="566928" y="3227832"/>
            <a:ext cx="182880" cy="182880"/>
          </a:xfrm>
          <a:prstGeom prst="rect">
            <a:avLst/>
          </a:prstGeom>
        </p:spPr>
      </p:pic>
      <p:sp>
        <p:nvSpPr>
          <p:cNvPr id="14" name="t_44"/>
          <p:cNvSpPr txBox="1"/>
          <p:nvPr/>
        </p:nvSpPr>
        <p:spPr>
          <a:xfrm>
            <a:off x="804672" y="3172968"/>
            <a:ext cx="1170432" cy="438912"/>
          </a:xfrm>
          <a:prstGeom prst="rect">
            <a:avLst/>
          </a:prstGeom>
          <a:noFill/>
          <a:ln/>
        </p:spPr>
        <p:txBody>
          <a:bodyPr wrap="square" lIns="0" tIns="0" rIns="0" bIns="0" rtlCol="0" anchor="t"/>
          <a:lstStyle/>
          <a:p>
            <a:pPr marL="0" indent="0">
              <a:buNone/>
            </a:pPr>
            <a:r>
              <a:rPr lang="en-US" sz="1050" dirty="0">
                <a:solidFill>
                  <a:schemeClr val="tx1"/>
                </a:solidFill>
              </a:rPr>
              <a:t>Exploration, fuite de données</a:t>
            </a:r>
            <a:endParaRPr lang="en-US" sz="1050" dirty="0"/>
          </a:p>
        </p:txBody>
      </p:sp>
      <p:pic>
        <p:nvPicPr>
          <p:cNvPr id="15" name="ok_45" descr="preencoded.png"/>
          <p:cNvPicPr>
            <a:picLocks noChangeAspect="1"/>
          </p:cNvPicPr>
          <p:nvPr/>
        </p:nvPicPr>
        <p:blipFill>
          <a:blip r:embed="rId4"/>
          <a:stretch>
            <a:fillRect/>
          </a:stretch>
        </p:blipFill>
        <p:spPr>
          <a:xfrm>
            <a:off x="566928" y="3703320"/>
            <a:ext cx="182880" cy="182880"/>
          </a:xfrm>
          <a:prstGeom prst="rect">
            <a:avLst/>
          </a:prstGeom>
        </p:spPr>
      </p:pic>
      <p:sp>
        <p:nvSpPr>
          <p:cNvPr id="16" name="t_46"/>
          <p:cNvSpPr txBox="1"/>
          <p:nvPr/>
        </p:nvSpPr>
        <p:spPr>
          <a:xfrm>
            <a:off x="804672" y="3648456"/>
            <a:ext cx="1170432" cy="438912"/>
          </a:xfrm>
          <a:prstGeom prst="rect">
            <a:avLst/>
          </a:prstGeom>
          <a:noFill/>
          <a:ln/>
        </p:spPr>
        <p:txBody>
          <a:bodyPr wrap="square" lIns="0" tIns="0" rIns="0" bIns="0" rtlCol="0" anchor="t"/>
          <a:lstStyle/>
          <a:p>
            <a:pPr marL="0" indent="0">
              <a:buNone/>
            </a:pPr>
            <a:r>
              <a:rPr lang="en-US" sz="1050" dirty="0">
                <a:solidFill>
                  <a:schemeClr val="tx1"/>
                </a:solidFill>
              </a:rPr>
              <a:t>Métrique justifiée</a:t>
            </a:r>
            <a:endParaRPr lang="en-US" sz="1050" dirty="0"/>
          </a:p>
        </p:txBody>
      </p:sp>
      <p:pic>
        <p:nvPicPr>
          <p:cNvPr id="17" name="ok_47" descr="preencoded.png"/>
          <p:cNvPicPr>
            <a:picLocks noChangeAspect="1"/>
          </p:cNvPicPr>
          <p:nvPr/>
        </p:nvPicPr>
        <p:blipFill>
          <a:blip r:embed="rId4"/>
          <a:stretch>
            <a:fillRect/>
          </a:stretch>
        </p:blipFill>
        <p:spPr>
          <a:xfrm>
            <a:off x="566928" y="4178808"/>
            <a:ext cx="182880" cy="182880"/>
          </a:xfrm>
          <a:prstGeom prst="rect">
            <a:avLst/>
          </a:prstGeom>
        </p:spPr>
      </p:pic>
      <p:sp>
        <p:nvSpPr>
          <p:cNvPr id="18" name="t_48"/>
          <p:cNvSpPr txBox="1"/>
          <p:nvPr/>
        </p:nvSpPr>
        <p:spPr>
          <a:xfrm>
            <a:off x="804672" y="4123944"/>
            <a:ext cx="1170432" cy="438912"/>
          </a:xfrm>
          <a:prstGeom prst="rect">
            <a:avLst/>
          </a:prstGeom>
          <a:noFill/>
          <a:ln/>
        </p:spPr>
        <p:txBody>
          <a:bodyPr wrap="square" lIns="0" tIns="0" rIns="0" bIns="0" rtlCol="0" anchor="t"/>
          <a:lstStyle/>
          <a:p>
            <a:pPr marL="0" indent="0">
              <a:buNone/>
            </a:pPr>
            <a:r>
              <a:rPr lang="en-US" sz="1050" dirty="0">
                <a:solidFill>
                  <a:schemeClr val="tx1"/>
                </a:solidFill>
              </a:rPr>
              <a:t>Modèle de référence</a:t>
            </a:r>
            <a:endParaRPr lang="en-US" sz="1050" dirty="0"/>
          </a:p>
        </p:txBody>
      </p:sp>
      <p:sp>
        <p:nvSpPr>
          <p:cNvPr id="19" name="card_49"/>
          <p:cNvSpPr/>
          <p:nvPr/>
        </p:nvSpPr>
        <p:spPr>
          <a:xfrm>
            <a:off x="2139696" y="1051560"/>
            <a:ext cx="1554480" cy="3611880"/>
          </a:xfrm>
          <a:prstGeom prst="roundRect">
            <a:avLst>
              <a:gd name="adj" fmla="val 4706"/>
            </a:avLst>
          </a:prstGeom>
          <a:solidFill>
            <a:schemeClr val="bg2"/>
          </a:solidFill>
          <a:ln w="12700">
            <a:solidFill>
              <a:schemeClr val="bg2"/>
            </a:solidFill>
            <a:prstDash val="solid"/>
          </a:ln>
        </p:spPr>
      </p:sp>
      <p:sp>
        <p:nvSpPr>
          <p:cNvPr id="20" name="dh_50"/>
          <p:cNvSpPr/>
          <p:nvPr/>
        </p:nvSpPr>
        <p:spPr>
          <a:xfrm>
            <a:off x="2139696" y="1051560"/>
            <a:ext cx="1554480" cy="411480"/>
          </a:xfrm>
          <a:prstGeom prst="rect">
            <a:avLst/>
          </a:prstGeom>
          <a:solidFill>
            <a:srgbClr val="4F46E5"/>
          </a:solidFill>
          <a:ln w="12700">
            <a:solidFill>
              <a:srgbClr val="4F46E5"/>
            </a:solidFill>
            <a:prstDash val="solid"/>
          </a:ln>
        </p:spPr>
      </p:sp>
      <p:sp>
        <p:nvSpPr>
          <p:cNvPr id="21" name="t_51"/>
          <p:cNvSpPr txBox="1"/>
          <p:nvPr/>
        </p:nvSpPr>
        <p:spPr>
          <a:xfrm>
            <a:off x="2139696" y="1051560"/>
            <a:ext cx="1554480" cy="411480"/>
          </a:xfrm>
          <a:prstGeom prst="rect">
            <a:avLst/>
          </a:prstGeom>
          <a:noFill/>
          <a:ln/>
        </p:spPr>
        <p:txBody>
          <a:bodyPr wrap="square" lIns="0" tIns="0" rIns="0" bIns="0" rtlCol="0" anchor="ctr"/>
          <a:lstStyle/>
          <a:p>
            <a:pPr marL="0" indent="0" algn="ctr">
              <a:buNone/>
            </a:pPr>
            <a:r>
              <a:rPr lang="en-US" sz="1250" b="1" dirty="0">
                <a:solidFill>
                  <a:srgbClr val="FFFFFF"/>
                </a:solidFill>
              </a:rPr>
              <a:t>J2 · Mardi</a:t>
            </a:r>
            <a:endParaRPr lang="en-US" sz="1250" dirty="0"/>
          </a:p>
        </p:txBody>
      </p:sp>
      <p:sp>
        <p:nvSpPr>
          <p:cNvPr id="22" name="do_52"/>
          <p:cNvSpPr/>
          <p:nvPr/>
        </p:nvSpPr>
        <p:spPr>
          <a:xfrm>
            <a:off x="2660904" y="1600200"/>
            <a:ext cx="512064" cy="512064"/>
          </a:xfrm>
          <a:prstGeom prst="ellipse">
            <a:avLst/>
          </a:prstGeom>
          <a:solidFill>
            <a:srgbClr val="0E7490"/>
          </a:solidFill>
          <a:ln w="12700">
            <a:solidFill>
              <a:srgbClr val="0E7490"/>
            </a:solidFill>
            <a:prstDash val="solid"/>
          </a:ln>
        </p:spPr>
      </p:sp>
      <p:pic>
        <p:nvPicPr>
          <p:cNvPr id="23" name="di_53" descr="preencoded.png"/>
          <p:cNvPicPr>
            <a:picLocks noChangeAspect="1"/>
          </p:cNvPicPr>
          <p:nvPr/>
        </p:nvPicPr>
        <p:blipFill>
          <a:blip r:embed="rId5"/>
          <a:stretch>
            <a:fillRect/>
          </a:stretch>
        </p:blipFill>
        <p:spPr>
          <a:xfrm>
            <a:off x="2788920" y="1728216"/>
            <a:ext cx="256032" cy="256032"/>
          </a:xfrm>
          <a:prstGeom prst="rect">
            <a:avLst/>
          </a:prstGeom>
        </p:spPr>
      </p:pic>
      <p:sp>
        <p:nvSpPr>
          <p:cNvPr id="24" name="t_54"/>
          <p:cNvSpPr txBox="1"/>
          <p:nvPr/>
        </p:nvSpPr>
        <p:spPr>
          <a:xfrm>
            <a:off x="2185416" y="2194560"/>
            <a:ext cx="1463040" cy="365760"/>
          </a:xfrm>
          <a:prstGeom prst="rect">
            <a:avLst/>
          </a:prstGeom>
          <a:noFill/>
          <a:ln/>
        </p:spPr>
        <p:txBody>
          <a:bodyPr wrap="square" lIns="0" tIns="0" rIns="0" bIns="0" rtlCol="0" anchor="ctr"/>
          <a:lstStyle/>
          <a:p>
            <a:pPr marL="0" indent="0" algn="ctr">
              <a:buNone/>
            </a:pPr>
            <a:r>
              <a:rPr lang="en-US" sz="1350" b="1" dirty="0">
                <a:solidFill>
                  <a:schemeClr val="tx2"/>
                </a:solidFill>
              </a:rPr>
              <a:t>Modèle</a:t>
            </a:r>
            <a:endParaRPr lang="en-US" sz="1350" dirty="0"/>
          </a:p>
        </p:txBody>
      </p:sp>
      <p:pic>
        <p:nvPicPr>
          <p:cNvPr id="25" name="ok_55" descr="preencoded.png"/>
          <p:cNvPicPr>
            <a:picLocks noChangeAspect="1"/>
          </p:cNvPicPr>
          <p:nvPr/>
        </p:nvPicPr>
        <p:blipFill>
          <a:blip r:embed="rId4"/>
          <a:stretch>
            <a:fillRect/>
          </a:stretch>
        </p:blipFill>
        <p:spPr>
          <a:xfrm>
            <a:off x="2249424" y="2752344"/>
            <a:ext cx="182880" cy="182880"/>
          </a:xfrm>
          <a:prstGeom prst="rect">
            <a:avLst/>
          </a:prstGeom>
        </p:spPr>
      </p:pic>
      <p:sp>
        <p:nvSpPr>
          <p:cNvPr id="26" name="t_56"/>
          <p:cNvSpPr txBox="1"/>
          <p:nvPr/>
        </p:nvSpPr>
        <p:spPr>
          <a:xfrm>
            <a:off x="2487168" y="2697480"/>
            <a:ext cx="1170432" cy="438912"/>
          </a:xfrm>
          <a:prstGeom prst="rect">
            <a:avLst/>
          </a:prstGeom>
          <a:noFill/>
          <a:ln/>
        </p:spPr>
        <p:txBody>
          <a:bodyPr wrap="square" lIns="0" tIns="0" rIns="0" bIns="0" rtlCol="0" anchor="t"/>
          <a:lstStyle/>
          <a:p>
            <a:pPr marL="0" indent="0">
              <a:buNone/>
            </a:pPr>
            <a:r>
              <a:rPr lang="en-US" sz="1050" dirty="0">
                <a:solidFill>
                  <a:schemeClr val="tx1"/>
                </a:solidFill>
              </a:rPr>
              <a:t>Pipeline scikit-learn</a:t>
            </a:r>
            <a:endParaRPr lang="en-US" sz="1050" dirty="0"/>
          </a:p>
        </p:txBody>
      </p:sp>
      <p:pic>
        <p:nvPicPr>
          <p:cNvPr id="27" name="ok_57" descr="preencoded.png"/>
          <p:cNvPicPr>
            <a:picLocks noChangeAspect="1"/>
          </p:cNvPicPr>
          <p:nvPr/>
        </p:nvPicPr>
        <p:blipFill>
          <a:blip r:embed="rId4"/>
          <a:stretch>
            <a:fillRect/>
          </a:stretch>
        </p:blipFill>
        <p:spPr>
          <a:xfrm>
            <a:off x="2249424" y="3227832"/>
            <a:ext cx="182880" cy="182880"/>
          </a:xfrm>
          <a:prstGeom prst="rect">
            <a:avLst/>
          </a:prstGeom>
        </p:spPr>
      </p:pic>
      <p:sp>
        <p:nvSpPr>
          <p:cNvPr id="28" name="t_58"/>
          <p:cNvSpPr txBox="1"/>
          <p:nvPr/>
        </p:nvSpPr>
        <p:spPr>
          <a:xfrm>
            <a:off x="2487168" y="3172968"/>
            <a:ext cx="1170432" cy="438912"/>
          </a:xfrm>
          <a:prstGeom prst="rect">
            <a:avLst/>
          </a:prstGeom>
          <a:noFill/>
          <a:ln/>
        </p:spPr>
        <p:txBody>
          <a:bodyPr wrap="square" lIns="0" tIns="0" rIns="0" bIns="0" rtlCol="0" anchor="t"/>
          <a:lstStyle/>
          <a:p>
            <a:pPr marL="0" indent="0">
              <a:buNone/>
            </a:pPr>
            <a:r>
              <a:rPr lang="en-US" sz="1050" dirty="0">
                <a:solidFill>
                  <a:schemeClr val="tx1"/>
                </a:solidFill>
              </a:rPr>
              <a:t>≥ 3 essais dans MLflow</a:t>
            </a:r>
            <a:endParaRPr lang="en-US" sz="1050" dirty="0"/>
          </a:p>
        </p:txBody>
      </p:sp>
      <p:pic>
        <p:nvPicPr>
          <p:cNvPr id="29" name="ok_59" descr="preencoded.png"/>
          <p:cNvPicPr>
            <a:picLocks noChangeAspect="1"/>
          </p:cNvPicPr>
          <p:nvPr/>
        </p:nvPicPr>
        <p:blipFill>
          <a:blip r:embed="rId4"/>
          <a:stretch>
            <a:fillRect/>
          </a:stretch>
        </p:blipFill>
        <p:spPr>
          <a:xfrm>
            <a:off x="2249424" y="3703320"/>
            <a:ext cx="182880" cy="182880"/>
          </a:xfrm>
          <a:prstGeom prst="rect">
            <a:avLst/>
          </a:prstGeom>
        </p:spPr>
      </p:pic>
      <p:sp>
        <p:nvSpPr>
          <p:cNvPr id="30" name="t_60"/>
          <p:cNvSpPr txBox="1"/>
          <p:nvPr/>
        </p:nvSpPr>
        <p:spPr>
          <a:xfrm>
            <a:off x="2487168" y="3648456"/>
            <a:ext cx="1170432" cy="438912"/>
          </a:xfrm>
          <a:prstGeom prst="rect">
            <a:avLst/>
          </a:prstGeom>
          <a:noFill/>
          <a:ln/>
        </p:spPr>
        <p:txBody>
          <a:bodyPr wrap="square" lIns="0" tIns="0" rIns="0" bIns="0" rtlCol="0" anchor="t"/>
          <a:lstStyle/>
          <a:p>
            <a:pPr marL="0" indent="0">
              <a:buNone/>
            </a:pPr>
            <a:r>
              <a:rPr lang="en-US" sz="1050" dirty="0">
                <a:solidFill>
                  <a:schemeClr val="tx1"/>
                </a:solidFill>
              </a:rPr>
              <a:t>Choix argumenté du modèle</a:t>
            </a:r>
            <a:endParaRPr lang="en-US" sz="1050" dirty="0"/>
          </a:p>
        </p:txBody>
      </p:sp>
      <p:pic>
        <p:nvPicPr>
          <p:cNvPr id="31" name="ok_61" descr="preencoded.png"/>
          <p:cNvPicPr>
            <a:picLocks noChangeAspect="1"/>
          </p:cNvPicPr>
          <p:nvPr/>
        </p:nvPicPr>
        <p:blipFill>
          <a:blip r:embed="rId4"/>
          <a:stretch>
            <a:fillRect/>
          </a:stretch>
        </p:blipFill>
        <p:spPr>
          <a:xfrm>
            <a:off x="2249424" y="4178808"/>
            <a:ext cx="182880" cy="182880"/>
          </a:xfrm>
          <a:prstGeom prst="rect">
            <a:avLst/>
          </a:prstGeom>
        </p:spPr>
      </p:pic>
      <p:sp>
        <p:nvSpPr>
          <p:cNvPr id="32" name="t_62"/>
          <p:cNvSpPr txBox="1"/>
          <p:nvPr/>
        </p:nvSpPr>
        <p:spPr>
          <a:xfrm>
            <a:off x="2487168" y="4123944"/>
            <a:ext cx="1170432" cy="438912"/>
          </a:xfrm>
          <a:prstGeom prst="rect">
            <a:avLst/>
          </a:prstGeom>
          <a:noFill/>
          <a:ln/>
        </p:spPr>
        <p:txBody>
          <a:bodyPr wrap="square" lIns="0" tIns="0" rIns="0" bIns="0" rtlCol="0" anchor="t"/>
          <a:lstStyle/>
          <a:p>
            <a:pPr marL="0" indent="0">
              <a:buNone/>
            </a:pPr>
            <a:r>
              <a:rPr lang="en-US" sz="1050" dirty="0">
                <a:solidFill>
                  <a:schemeClr val="tx1"/>
                </a:solidFill>
              </a:rPr>
              <a:t>Modèle sauvegardé</a:t>
            </a:r>
            <a:endParaRPr lang="en-US" sz="1050" dirty="0"/>
          </a:p>
        </p:txBody>
      </p:sp>
      <p:sp>
        <p:nvSpPr>
          <p:cNvPr id="33" name="card_63"/>
          <p:cNvSpPr/>
          <p:nvPr/>
        </p:nvSpPr>
        <p:spPr>
          <a:xfrm>
            <a:off x="3822192" y="1051560"/>
            <a:ext cx="1554480" cy="3611880"/>
          </a:xfrm>
          <a:prstGeom prst="roundRect">
            <a:avLst>
              <a:gd name="adj" fmla="val 4706"/>
            </a:avLst>
          </a:prstGeom>
          <a:solidFill>
            <a:schemeClr val="bg2"/>
          </a:solidFill>
          <a:ln w="12700">
            <a:solidFill>
              <a:schemeClr val="bg2"/>
            </a:solidFill>
            <a:prstDash val="solid"/>
          </a:ln>
        </p:spPr>
      </p:sp>
      <p:sp>
        <p:nvSpPr>
          <p:cNvPr id="34" name="dh_64"/>
          <p:cNvSpPr/>
          <p:nvPr/>
        </p:nvSpPr>
        <p:spPr>
          <a:xfrm>
            <a:off x="3822192" y="1051560"/>
            <a:ext cx="1554480" cy="411480"/>
          </a:xfrm>
          <a:prstGeom prst="rect">
            <a:avLst/>
          </a:prstGeom>
          <a:solidFill>
            <a:srgbClr val="4F46E5"/>
          </a:solidFill>
          <a:ln w="12700">
            <a:solidFill>
              <a:srgbClr val="4F46E5"/>
            </a:solidFill>
            <a:prstDash val="solid"/>
          </a:ln>
        </p:spPr>
      </p:sp>
      <p:sp>
        <p:nvSpPr>
          <p:cNvPr id="35" name="t_65"/>
          <p:cNvSpPr txBox="1"/>
          <p:nvPr/>
        </p:nvSpPr>
        <p:spPr>
          <a:xfrm>
            <a:off x="3822192" y="1051560"/>
            <a:ext cx="1554480" cy="411480"/>
          </a:xfrm>
          <a:prstGeom prst="rect">
            <a:avLst/>
          </a:prstGeom>
          <a:noFill/>
          <a:ln/>
        </p:spPr>
        <p:txBody>
          <a:bodyPr wrap="square" lIns="0" tIns="0" rIns="0" bIns="0" rtlCol="0" anchor="ctr"/>
          <a:lstStyle/>
          <a:p>
            <a:pPr marL="0" indent="0" algn="ctr">
              <a:buNone/>
            </a:pPr>
            <a:r>
              <a:rPr lang="en-US" sz="1250" b="1" dirty="0">
                <a:solidFill>
                  <a:srgbClr val="FFFFFF"/>
                </a:solidFill>
              </a:rPr>
              <a:t>J3 · Mercredi</a:t>
            </a:r>
            <a:endParaRPr lang="en-US" sz="1250" dirty="0"/>
          </a:p>
        </p:txBody>
      </p:sp>
      <p:sp>
        <p:nvSpPr>
          <p:cNvPr id="36" name="do_66"/>
          <p:cNvSpPr/>
          <p:nvPr/>
        </p:nvSpPr>
        <p:spPr>
          <a:xfrm>
            <a:off x="4343400" y="1600200"/>
            <a:ext cx="512064" cy="512064"/>
          </a:xfrm>
          <a:prstGeom prst="ellipse">
            <a:avLst/>
          </a:prstGeom>
          <a:solidFill>
            <a:srgbClr val="0E7490"/>
          </a:solidFill>
          <a:ln w="12700">
            <a:solidFill>
              <a:srgbClr val="0E7490"/>
            </a:solidFill>
            <a:prstDash val="solid"/>
          </a:ln>
        </p:spPr>
      </p:sp>
      <p:pic>
        <p:nvPicPr>
          <p:cNvPr id="37" name="di_67" descr="preencoded.png"/>
          <p:cNvPicPr>
            <a:picLocks noChangeAspect="1"/>
          </p:cNvPicPr>
          <p:nvPr/>
        </p:nvPicPr>
        <p:blipFill>
          <a:blip r:embed="rId6"/>
          <a:stretch>
            <a:fillRect/>
          </a:stretch>
        </p:blipFill>
        <p:spPr>
          <a:xfrm>
            <a:off x="4471416" y="1728216"/>
            <a:ext cx="256032" cy="256032"/>
          </a:xfrm>
          <a:prstGeom prst="rect">
            <a:avLst/>
          </a:prstGeom>
        </p:spPr>
      </p:pic>
      <p:sp>
        <p:nvSpPr>
          <p:cNvPr id="38" name="t_68"/>
          <p:cNvSpPr txBox="1"/>
          <p:nvPr/>
        </p:nvSpPr>
        <p:spPr>
          <a:xfrm>
            <a:off x="3867912" y="2194560"/>
            <a:ext cx="1463040" cy="365760"/>
          </a:xfrm>
          <a:prstGeom prst="rect">
            <a:avLst/>
          </a:prstGeom>
          <a:noFill/>
          <a:ln/>
        </p:spPr>
        <p:txBody>
          <a:bodyPr wrap="square" lIns="0" tIns="0" rIns="0" bIns="0" rtlCol="0" anchor="ctr"/>
          <a:lstStyle/>
          <a:p>
            <a:pPr marL="0" indent="0" algn="ctr">
              <a:buNone/>
            </a:pPr>
            <a:r>
              <a:rPr lang="en-US" sz="1350" b="1" dirty="0">
                <a:solidFill>
                  <a:schemeClr val="tx2"/>
                </a:solidFill>
              </a:rPr>
              <a:t>API et tests</a:t>
            </a:r>
            <a:endParaRPr lang="en-US" sz="1350" dirty="0"/>
          </a:p>
        </p:txBody>
      </p:sp>
      <p:pic>
        <p:nvPicPr>
          <p:cNvPr id="39" name="ok_69" descr="preencoded.png"/>
          <p:cNvPicPr>
            <a:picLocks noChangeAspect="1"/>
          </p:cNvPicPr>
          <p:nvPr/>
        </p:nvPicPr>
        <p:blipFill>
          <a:blip r:embed="rId4"/>
          <a:stretch>
            <a:fillRect/>
          </a:stretch>
        </p:blipFill>
        <p:spPr>
          <a:xfrm>
            <a:off x="3931920" y="2752344"/>
            <a:ext cx="182880" cy="182880"/>
          </a:xfrm>
          <a:prstGeom prst="rect">
            <a:avLst/>
          </a:prstGeom>
        </p:spPr>
      </p:pic>
      <p:sp>
        <p:nvSpPr>
          <p:cNvPr id="40" name="t_70"/>
          <p:cNvSpPr txBox="1"/>
          <p:nvPr/>
        </p:nvSpPr>
        <p:spPr>
          <a:xfrm>
            <a:off x="4169664" y="2697480"/>
            <a:ext cx="1170432" cy="438912"/>
          </a:xfrm>
          <a:prstGeom prst="rect">
            <a:avLst/>
          </a:prstGeom>
          <a:noFill/>
          <a:ln/>
        </p:spPr>
        <p:txBody>
          <a:bodyPr wrap="square" lIns="0" tIns="0" rIns="0" bIns="0" rtlCol="0" anchor="t"/>
          <a:lstStyle/>
          <a:p>
            <a:pPr marL="0" indent="0">
              <a:buNone/>
            </a:pPr>
            <a:r>
              <a:rPr lang="en-US" sz="1050" dirty="0">
                <a:solidFill>
                  <a:schemeClr val="tx1"/>
                </a:solidFill>
              </a:rPr>
              <a:t>API FastAPI /predict</a:t>
            </a:r>
            <a:endParaRPr lang="en-US" sz="1050" dirty="0"/>
          </a:p>
        </p:txBody>
      </p:sp>
      <p:pic>
        <p:nvPicPr>
          <p:cNvPr id="41" name="ok_71" descr="preencoded.png"/>
          <p:cNvPicPr>
            <a:picLocks noChangeAspect="1"/>
          </p:cNvPicPr>
          <p:nvPr/>
        </p:nvPicPr>
        <p:blipFill>
          <a:blip r:embed="rId4"/>
          <a:stretch>
            <a:fillRect/>
          </a:stretch>
        </p:blipFill>
        <p:spPr>
          <a:xfrm>
            <a:off x="3931920" y="3227832"/>
            <a:ext cx="182880" cy="182880"/>
          </a:xfrm>
          <a:prstGeom prst="rect">
            <a:avLst/>
          </a:prstGeom>
        </p:spPr>
      </p:pic>
      <p:sp>
        <p:nvSpPr>
          <p:cNvPr id="42" name="t_72"/>
          <p:cNvSpPr txBox="1"/>
          <p:nvPr/>
        </p:nvSpPr>
        <p:spPr>
          <a:xfrm>
            <a:off x="4169664" y="3172968"/>
            <a:ext cx="1170432" cy="438912"/>
          </a:xfrm>
          <a:prstGeom prst="rect">
            <a:avLst/>
          </a:prstGeom>
          <a:noFill/>
          <a:ln/>
        </p:spPr>
        <p:txBody>
          <a:bodyPr wrap="square" lIns="0" tIns="0" rIns="0" bIns="0" rtlCol="0" anchor="t"/>
          <a:lstStyle/>
          <a:p>
            <a:pPr marL="0" indent="0">
              <a:buNone/>
            </a:pPr>
            <a:r>
              <a:rPr lang="en-US" sz="1050" dirty="0">
                <a:solidFill>
                  <a:schemeClr val="tx1"/>
                </a:solidFill>
              </a:rPr>
              <a:t>Validation des entrées</a:t>
            </a:r>
            <a:endParaRPr lang="en-US" sz="1050" dirty="0"/>
          </a:p>
        </p:txBody>
      </p:sp>
      <p:pic>
        <p:nvPicPr>
          <p:cNvPr id="43" name="ok_73" descr="preencoded.png"/>
          <p:cNvPicPr>
            <a:picLocks noChangeAspect="1"/>
          </p:cNvPicPr>
          <p:nvPr/>
        </p:nvPicPr>
        <p:blipFill>
          <a:blip r:embed="rId4"/>
          <a:stretch>
            <a:fillRect/>
          </a:stretch>
        </p:blipFill>
        <p:spPr>
          <a:xfrm>
            <a:off x="3931920" y="3703320"/>
            <a:ext cx="182880" cy="182880"/>
          </a:xfrm>
          <a:prstGeom prst="rect">
            <a:avLst/>
          </a:prstGeom>
        </p:spPr>
      </p:pic>
      <p:sp>
        <p:nvSpPr>
          <p:cNvPr id="44" name="t_74"/>
          <p:cNvSpPr txBox="1"/>
          <p:nvPr/>
        </p:nvSpPr>
        <p:spPr>
          <a:xfrm>
            <a:off x="4169664" y="3648456"/>
            <a:ext cx="1170432" cy="438912"/>
          </a:xfrm>
          <a:prstGeom prst="rect">
            <a:avLst/>
          </a:prstGeom>
          <a:noFill/>
          <a:ln/>
        </p:spPr>
        <p:txBody>
          <a:bodyPr wrap="square" lIns="0" tIns="0" rIns="0" bIns="0" rtlCol="0" anchor="t"/>
          <a:lstStyle/>
          <a:p>
            <a:pPr marL="0" indent="0">
              <a:buNone/>
            </a:pPr>
            <a:r>
              <a:rPr lang="en-US" sz="1050" dirty="0">
                <a:solidFill>
                  <a:schemeClr val="tx1"/>
                </a:solidFill>
              </a:rPr>
              <a:t>Tests pytest</a:t>
            </a:r>
            <a:endParaRPr lang="en-US" sz="1050" dirty="0"/>
          </a:p>
        </p:txBody>
      </p:sp>
      <p:pic>
        <p:nvPicPr>
          <p:cNvPr id="45" name="ok_75" descr="preencoded.png"/>
          <p:cNvPicPr>
            <a:picLocks noChangeAspect="1"/>
          </p:cNvPicPr>
          <p:nvPr/>
        </p:nvPicPr>
        <p:blipFill>
          <a:blip r:embed="rId4"/>
          <a:stretch>
            <a:fillRect/>
          </a:stretch>
        </p:blipFill>
        <p:spPr>
          <a:xfrm>
            <a:off x="3931920" y="4178808"/>
            <a:ext cx="182880" cy="182880"/>
          </a:xfrm>
          <a:prstGeom prst="rect">
            <a:avLst/>
          </a:prstGeom>
        </p:spPr>
      </p:pic>
      <p:sp>
        <p:nvSpPr>
          <p:cNvPr id="46" name="t_76"/>
          <p:cNvSpPr txBox="1"/>
          <p:nvPr/>
        </p:nvSpPr>
        <p:spPr>
          <a:xfrm>
            <a:off x="4169664" y="4123944"/>
            <a:ext cx="1170432" cy="438912"/>
          </a:xfrm>
          <a:prstGeom prst="rect">
            <a:avLst/>
          </a:prstGeom>
          <a:noFill/>
          <a:ln/>
        </p:spPr>
        <p:txBody>
          <a:bodyPr wrap="square" lIns="0" tIns="0" rIns="0" bIns="0" rtlCol="0" anchor="t"/>
          <a:lstStyle/>
          <a:p>
            <a:pPr marL="0" indent="0">
              <a:buNone/>
            </a:pPr>
            <a:r>
              <a:rPr lang="en-US" sz="1050" dirty="0">
                <a:solidFill>
                  <a:schemeClr val="tx1"/>
                </a:solidFill>
              </a:rPr>
              <a:t>Démo intermédiaire</a:t>
            </a:r>
            <a:endParaRPr lang="en-US" sz="1050" dirty="0"/>
          </a:p>
        </p:txBody>
      </p:sp>
      <p:sp>
        <p:nvSpPr>
          <p:cNvPr id="47" name="card_77"/>
          <p:cNvSpPr/>
          <p:nvPr/>
        </p:nvSpPr>
        <p:spPr>
          <a:xfrm>
            <a:off x="5504688" y="1051560"/>
            <a:ext cx="1554480" cy="3611880"/>
          </a:xfrm>
          <a:prstGeom prst="roundRect">
            <a:avLst>
              <a:gd name="adj" fmla="val 4706"/>
            </a:avLst>
          </a:prstGeom>
          <a:solidFill>
            <a:schemeClr val="bg2"/>
          </a:solidFill>
          <a:ln w="12700">
            <a:solidFill>
              <a:schemeClr val="bg2"/>
            </a:solidFill>
            <a:prstDash val="solid"/>
          </a:ln>
        </p:spPr>
      </p:sp>
      <p:sp>
        <p:nvSpPr>
          <p:cNvPr id="48" name="dh_78"/>
          <p:cNvSpPr/>
          <p:nvPr/>
        </p:nvSpPr>
        <p:spPr>
          <a:xfrm>
            <a:off x="5504688" y="1051560"/>
            <a:ext cx="1554480" cy="411480"/>
          </a:xfrm>
          <a:prstGeom prst="rect">
            <a:avLst/>
          </a:prstGeom>
          <a:solidFill>
            <a:srgbClr val="4F46E5"/>
          </a:solidFill>
          <a:ln w="12700">
            <a:solidFill>
              <a:srgbClr val="4F46E5"/>
            </a:solidFill>
            <a:prstDash val="solid"/>
          </a:ln>
        </p:spPr>
      </p:sp>
      <p:sp>
        <p:nvSpPr>
          <p:cNvPr id="49" name="t_79"/>
          <p:cNvSpPr txBox="1"/>
          <p:nvPr/>
        </p:nvSpPr>
        <p:spPr>
          <a:xfrm>
            <a:off x="5504688" y="1051560"/>
            <a:ext cx="1554480" cy="411480"/>
          </a:xfrm>
          <a:prstGeom prst="rect">
            <a:avLst/>
          </a:prstGeom>
          <a:noFill/>
          <a:ln/>
        </p:spPr>
        <p:txBody>
          <a:bodyPr wrap="square" lIns="0" tIns="0" rIns="0" bIns="0" rtlCol="0" anchor="ctr"/>
          <a:lstStyle/>
          <a:p>
            <a:pPr marL="0" indent="0" algn="ctr">
              <a:buNone/>
            </a:pPr>
            <a:r>
              <a:rPr lang="en-US" sz="1250" b="1" dirty="0">
                <a:solidFill>
                  <a:srgbClr val="FFFFFF"/>
                </a:solidFill>
              </a:rPr>
              <a:t>J4 · Jeudi</a:t>
            </a:r>
            <a:endParaRPr lang="en-US" sz="1250" dirty="0"/>
          </a:p>
        </p:txBody>
      </p:sp>
      <p:sp>
        <p:nvSpPr>
          <p:cNvPr id="50" name="do_80"/>
          <p:cNvSpPr/>
          <p:nvPr/>
        </p:nvSpPr>
        <p:spPr>
          <a:xfrm>
            <a:off x="6025896" y="1600200"/>
            <a:ext cx="512064" cy="512064"/>
          </a:xfrm>
          <a:prstGeom prst="ellipse">
            <a:avLst/>
          </a:prstGeom>
          <a:solidFill>
            <a:srgbClr val="0E7490"/>
          </a:solidFill>
          <a:ln w="12700">
            <a:solidFill>
              <a:srgbClr val="0E7490"/>
            </a:solidFill>
            <a:prstDash val="solid"/>
          </a:ln>
        </p:spPr>
      </p:sp>
      <p:pic>
        <p:nvPicPr>
          <p:cNvPr id="51" name="di_81" descr="preencoded.png"/>
          <p:cNvPicPr>
            <a:picLocks noChangeAspect="1"/>
          </p:cNvPicPr>
          <p:nvPr/>
        </p:nvPicPr>
        <p:blipFill>
          <a:blip r:embed="rId7"/>
          <a:stretch>
            <a:fillRect/>
          </a:stretch>
        </p:blipFill>
        <p:spPr>
          <a:xfrm>
            <a:off x="6153912" y="1728216"/>
            <a:ext cx="256032" cy="256032"/>
          </a:xfrm>
          <a:prstGeom prst="rect">
            <a:avLst/>
          </a:prstGeom>
        </p:spPr>
      </p:pic>
      <p:sp>
        <p:nvSpPr>
          <p:cNvPr id="52" name="t_82"/>
          <p:cNvSpPr txBox="1"/>
          <p:nvPr/>
        </p:nvSpPr>
        <p:spPr>
          <a:xfrm>
            <a:off x="5550408" y="2194560"/>
            <a:ext cx="1463040" cy="365760"/>
          </a:xfrm>
          <a:prstGeom prst="rect">
            <a:avLst/>
          </a:prstGeom>
          <a:noFill/>
          <a:ln/>
        </p:spPr>
        <p:txBody>
          <a:bodyPr wrap="square" lIns="0" tIns="0" rIns="0" bIns="0" rtlCol="0" anchor="ctr"/>
          <a:lstStyle/>
          <a:p>
            <a:pPr marL="0" indent="0" algn="ctr">
              <a:buNone/>
            </a:pPr>
            <a:r>
              <a:rPr lang="en-US" sz="1350" b="1" dirty="0">
                <a:solidFill>
                  <a:schemeClr val="tx2"/>
                </a:solidFill>
              </a:rPr>
              <a:t>Industrialisation</a:t>
            </a:r>
            <a:endParaRPr lang="en-US" sz="1350" dirty="0"/>
          </a:p>
        </p:txBody>
      </p:sp>
      <p:pic>
        <p:nvPicPr>
          <p:cNvPr id="53" name="ok_83" descr="preencoded.png"/>
          <p:cNvPicPr>
            <a:picLocks noChangeAspect="1"/>
          </p:cNvPicPr>
          <p:nvPr/>
        </p:nvPicPr>
        <p:blipFill>
          <a:blip r:embed="rId4"/>
          <a:stretch>
            <a:fillRect/>
          </a:stretch>
        </p:blipFill>
        <p:spPr>
          <a:xfrm>
            <a:off x="5614416" y="2752344"/>
            <a:ext cx="182880" cy="182880"/>
          </a:xfrm>
          <a:prstGeom prst="rect">
            <a:avLst/>
          </a:prstGeom>
        </p:spPr>
      </p:pic>
      <p:sp>
        <p:nvSpPr>
          <p:cNvPr id="54" name="t_84"/>
          <p:cNvSpPr txBox="1"/>
          <p:nvPr/>
        </p:nvSpPr>
        <p:spPr>
          <a:xfrm>
            <a:off x="5852160" y="2697480"/>
            <a:ext cx="1170432" cy="438912"/>
          </a:xfrm>
          <a:prstGeom prst="rect">
            <a:avLst/>
          </a:prstGeom>
          <a:noFill/>
          <a:ln/>
        </p:spPr>
        <p:txBody>
          <a:bodyPr wrap="square" lIns="0" tIns="0" rIns="0" bIns="0" rtlCol="0" anchor="t"/>
          <a:lstStyle/>
          <a:p>
            <a:pPr marL="0" indent="0">
              <a:buNone/>
            </a:pPr>
            <a:r>
              <a:rPr lang="en-US" sz="1050" dirty="0">
                <a:solidFill>
                  <a:schemeClr val="tx1"/>
                </a:solidFill>
              </a:rPr>
              <a:t>Image Docker</a:t>
            </a:r>
            <a:endParaRPr lang="en-US" sz="1050" dirty="0"/>
          </a:p>
        </p:txBody>
      </p:sp>
      <p:pic>
        <p:nvPicPr>
          <p:cNvPr id="55" name="ok_85" descr="preencoded.png"/>
          <p:cNvPicPr>
            <a:picLocks noChangeAspect="1"/>
          </p:cNvPicPr>
          <p:nvPr/>
        </p:nvPicPr>
        <p:blipFill>
          <a:blip r:embed="rId4"/>
          <a:stretch>
            <a:fillRect/>
          </a:stretch>
        </p:blipFill>
        <p:spPr>
          <a:xfrm>
            <a:off x="5614416" y="3227832"/>
            <a:ext cx="182880" cy="182880"/>
          </a:xfrm>
          <a:prstGeom prst="rect">
            <a:avLst/>
          </a:prstGeom>
        </p:spPr>
      </p:pic>
      <p:sp>
        <p:nvSpPr>
          <p:cNvPr id="56" name="t_86"/>
          <p:cNvSpPr txBox="1"/>
          <p:nvPr/>
        </p:nvSpPr>
        <p:spPr>
          <a:xfrm>
            <a:off x="5852160" y="3172968"/>
            <a:ext cx="1170432" cy="438912"/>
          </a:xfrm>
          <a:prstGeom prst="rect">
            <a:avLst/>
          </a:prstGeom>
          <a:noFill/>
          <a:ln/>
        </p:spPr>
        <p:txBody>
          <a:bodyPr wrap="square" lIns="0" tIns="0" rIns="0" bIns="0" rtlCol="0" anchor="t"/>
          <a:lstStyle/>
          <a:p>
            <a:pPr marL="0" indent="0">
              <a:buNone/>
            </a:pPr>
            <a:r>
              <a:rPr lang="en-US" sz="1050" dirty="0">
                <a:solidFill>
                  <a:schemeClr val="tx1"/>
                </a:solidFill>
              </a:rPr>
              <a:t>Intégration continue</a:t>
            </a:r>
            <a:endParaRPr lang="en-US" sz="1050" dirty="0"/>
          </a:p>
        </p:txBody>
      </p:sp>
      <p:pic>
        <p:nvPicPr>
          <p:cNvPr id="57" name="ok_87" descr="preencoded.png"/>
          <p:cNvPicPr>
            <a:picLocks noChangeAspect="1"/>
          </p:cNvPicPr>
          <p:nvPr/>
        </p:nvPicPr>
        <p:blipFill>
          <a:blip r:embed="rId4"/>
          <a:stretch>
            <a:fillRect/>
          </a:stretch>
        </p:blipFill>
        <p:spPr>
          <a:xfrm>
            <a:off x="5614416" y="3703320"/>
            <a:ext cx="182880" cy="182880"/>
          </a:xfrm>
          <a:prstGeom prst="rect">
            <a:avLst/>
          </a:prstGeom>
        </p:spPr>
      </p:pic>
      <p:sp>
        <p:nvSpPr>
          <p:cNvPr id="58" name="t_88"/>
          <p:cNvSpPr txBox="1"/>
          <p:nvPr/>
        </p:nvSpPr>
        <p:spPr>
          <a:xfrm>
            <a:off x="5852160" y="3648456"/>
            <a:ext cx="1170432" cy="438912"/>
          </a:xfrm>
          <a:prstGeom prst="rect">
            <a:avLst/>
          </a:prstGeom>
          <a:noFill/>
          <a:ln/>
        </p:spPr>
        <p:txBody>
          <a:bodyPr wrap="square" lIns="0" tIns="0" rIns="0" bIns="0" rtlCol="0" anchor="t"/>
          <a:lstStyle/>
          <a:p>
            <a:pPr marL="0" indent="0">
              <a:buNone/>
            </a:pPr>
            <a:r>
              <a:rPr lang="en-US" sz="1050" dirty="0">
                <a:solidFill>
                  <a:schemeClr val="tx1"/>
                </a:solidFill>
              </a:rPr>
              <a:t>Garde-fou de performance</a:t>
            </a:r>
            <a:endParaRPr lang="en-US" sz="1050" dirty="0"/>
          </a:p>
        </p:txBody>
      </p:sp>
      <p:pic>
        <p:nvPicPr>
          <p:cNvPr id="59" name="ok_89" descr="preencoded.png"/>
          <p:cNvPicPr>
            <a:picLocks noChangeAspect="1"/>
          </p:cNvPicPr>
          <p:nvPr/>
        </p:nvPicPr>
        <p:blipFill>
          <a:blip r:embed="rId4"/>
          <a:stretch>
            <a:fillRect/>
          </a:stretch>
        </p:blipFill>
        <p:spPr>
          <a:xfrm>
            <a:off x="5614416" y="4178808"/>
            <a:ext cx="182880" cy="182880"/>
          </a:xfrm>
          <a:prstGeom prst="rect">
            <a:avLst/>
          </a:prstGeom>
        </p:spPr>
      </p:pic>
      <p:sp>
        <p:nvSpPr>
          <p:cNvPr id="60" name="t_90"/>
          <p:cNvSpPr txBox="1"/>
          <p:nvPr/>
        </p:nvSpPr>
        <p:spPr>
          <a:xfrm>
            <a:off x="5852160" y="4123944"/>
            <a:ext cx="1170432" cy="438912"/>
          </a:xfrm>
          <a:prstGeom prst="rect">
            <a:avLst/>
          </a:prstGeom>
          <a:noFill/>
          <a:ln/>
        </p:spPr>
        <p:txBody>
          <a:bodyPr wrap="square" lIns="0" tIns="0" rIns="0" bIns="0" rtlCol="0" anchor="t"/>
          <a:lstStyle/>
          <a:p>
            <a:pPr marL="0" indent="0">
              <a:buNone/>
            </a:pPr>
            <a:r>
              <a:rPr lang="en-US" sz="1050" dirty="0">
                <a:solidFill>
                  <a:schemeClr val="tx1"/>
                </a:solidFill>
              </a:rPr>
              <a:t>README à jour</a:t>
            </a:r>
            <a:endParaRPr lang="en-US" sz="1050" dirty="0"/>
          </a:p>
        </p:txBody>
      </p:sp>
      <p:sp>
        <p:nvSpPr>
          <p:cNvPr id="61" name="card_91"/>
          <p:cNvSpPr/>
          <p:nvPr/>
        </p:nvSpPr>
        <p:spPr>
          <a:xfrm>
            <a:off x="7187184" y="1051560"/>
            <a:ext cx="1554480" cy="3611880"/>
          </a:xfrm>
          <a:prstGeom prst="roundRect">
            <a:avLst>
              <a:gd name="adj" fmla="val 4706"/>
            </a:avLst>
          </a:prstGeom>
          <a:solidFill>
            <a:schemeClr val="bg2"/>
          </a:solidFill>
          <a:ln w="12700">
            <a:solidFill>
              <a:schemeClr val="bg2"/>
            </a:solidFill>
            <a:prstDash val="solid"/>
          </a:ln>
        </p:spPr>
      </p:sp>
      <p:sp>
        <p:nvSpPr>
          <p:cNvPr id="62" name="dh_92"/>
          <p:cNvSpPr/>
          <p:nvPr/>
        </p:nvSpPr>
        <p:spPr>
          <a:xfrm>
            <a:off x="7187184" y="1051560"/>
            <a:ext cx="1554480" cy="411480"/>
          </a:xfrm>
          <a:prstGeom prst="rect">
            <a:avLst/>
          </a:prstGeom>
          <a:solidFill>
            <a:srgbClr val="4F46E5"/>
          </a:solidFill>
          <a:ln w="12700">
            <a:solidFill>
              <a:srgbClr val="4F46E5"/>
            </a:solidFill>
            <a:prstDash val="solid"/>
          </a:ln>
        </p:spPr>
      </p:sp>
      <p:sp>
        <p:nvSpPr>
          <p:cNvPr id="63" name="t_93"/>
          <p:cNvSpPr txBox="1"/>
          <p:nvPr/>
        </p:nvSpPr>
        <p:spPr>
          <a:xfrm>
            <a:off x="7187184" y="1051560"/>
            <a:ext cx="1554480" cy="411480"/>
          </a:xfrm>
          <a:prstGeom prst="rect">
            <a:avLst/>
          </a:prstGeom>
          <a:noFill/>
          <a:ln/>
        </p:spPr>
        <p:txBody>
          <a:bodyPr wrap="square" lIns="0" tIns="0" rIns="0" bIns="0" rtlCol="0" anchor="ctr"/>
          <a:lstStyle/>
          <a:p>
            <a:pPr marL="0" indent="0" algn="ctr">
              <a:buNone/>
            </a:pPr>
            <a:r>
              <a:rPr lang="en-US" sz="1250" b="1" dirty="0">
                <a:solidFill>
                  <a:srgbClr val="FFFFFF"/>
                </a:solidFill>
              </a:rPr>
              <a:t>J5 · Vendredi</a:t>
            </a:r>
            <a:endParaRPr lang="en-US" sz="1250" dirty="0"/>
          </a:p>
        </p:txBody>
      </p:sp>
      <p:sp>
        <p:nvSpPr>
          <p:cNvPr id="64" name="do_94"/>
          <p:cNvSpPr/>
          <p:nvPr/>
        </p:nvSpPr>
        <p:spPr>
          <a:xfrm>
            <a:off x="7708392" y="1600200"/>
            <a:ext cx="512064" cy="512064"/>
          </a:xfrm>
          <a:prstGeom prst="ellipse">
            <a:avLst/>
          </a:prstGeom>
          <a:solidFill>
            <a:srgbClr val="0E7490"/>
          </a:solidFill>
          <a:ln w="12700">
            <a:solidFill>
              <a:srgbClr val="0E7490"/>
            </a:solidFill>
            <a:prstDash val="solid"/>
          </a:ln>
        </p:spPr>
      </p:sp>
      <p:pic>
        <p:nvPicPr>
          <p:cNvPr id="65" name="di_95" descr="preencoded.png"/>
          <p:cNvPicPr>
            <a:picLocks noChangeAspect="1"/>
          </p:cNvPicPr>
          <p:nvPr/>
        </p:nvPicPr>
        <p:blipFill>
          <a:blip r:embed="rId8"/>
          <a:stretch>
            <a:fillRect/>
          </a:stretch>
        </p:blipFill>
        <p:spPr>
          <a:xfrm>
            <a:off x="7836408" y="1728216"/>
            <a:ext cx="256032" cy="256032"/>
          </a:xfrm>
          <a:prstGeom prst="rect">
            <a:avLst/>
          </a:prstGeom>
        </p:spPr>
      </p:pic>
      <p:sp>
        <p:nvSpPr>
          <p:cNvPr id="66" name="t_96"/>
          <p:cNvSpPr txBox="1"/>
          <p:nvPr/>
        </p:nvSpPr>
        <p:spPr>
          <a:xfrm>
            <a:off x="7232904" y="2194560"/>
            <a:ext cx="1463040" cy="365760"/>
          </a:xfrm>
          <a:prstGeom prst="rect">
            <a:avLst/>
          </a:prstGeom>
          <a:noFill/>
          <a:ln/>
        </p:spPr>
        <p:txBody>
          <a:bodyPr wrap="square" lIns="0" tIns="0" rIns="0" bIns="0" rtlCol="0" anchor="ctr"/>
          <a:lstStyle/>
          <a:p>
            <a:pPr marL="0" indent="0" algn="ctr">
              <a:buNone/>
            </a:pPr>
            <a:r>
              <a:rPr lang="en-US" sz="1350" b="1" dirty="0">
                <a:solidFill>
                  <a:schemeClr val="tx2"/>
                </a:solidFill>
              </a:rPr>
              <a:t>Surveillance</a:t>
            </a:r>
            <a:endParaRPr lang="en-US" sz="1350" dirty="0"/>
          </a:p>
        </p:txBody>
      </p:sp>
      <p:pic>
        <p:nvPicPr>
          <p:cNvPr id="67" name="ok_97" descr="preencoded.png"/>
          <p:cNvPicPr>
            <a:picLocks noChangeAspect="1"/>
          </p:cNvPicPr>
          <p:nvPr/>
        </p:nvPicPr>
        <p:blipFill>
          <a:blip r:embed="rId4"/>
          <a:stretch>
            <a:fillRect/>
          </a:stretch>
        </p:blipFill>
        <p:spPr>
          <a:xfrm>
            <a:off x="7296912" y="2752344"/>
            <a:ext cx="182880" cy="182880"/>
          </a:xfrm>
          <a:prstGeom prst="rect">
            <a:avLst/>
          </a:prstGeom>
        </p:spPr>
      </p:pic>
      <p:sp>
        <p:nvSpPr>
          <p:cNvPr id="68" name="t_98"/>
          <p:cNvSpPr txBox="1"/>
          <p:nvPr/>
        </p:nvSpPr>
        <p:spPr>
          <a:xfrm>
            <a:off x="7534656" y="2697480"/>
            <a:ext cx="1170432" cy="438912"/>
          </a:xfrm>
          <a:prstGeom prst="rect">
            <a:avLst/>
          </a:prstGeom>
          <a:noFill/>
          <a:ln/>
        </p:spPr>
        <p:txBody>
          <a:bodyPr wrap="square" lIns="0" tIns="0" rIns="0" bIns="0" rtlCol="0" anchor="t"/>
          <a:lstStyle/>
          <a:p>
            <a:pPr marL="0" indent="0">
              <a:buNone/>
            </a:pPr>
            <a:r>
              <a:rPr lang="en-US" sz="1050" dirty="0">
                <a:solidFill>
                  <a:schemeClr val="tx1"/>
                </a:solidFill>
              </a:rPr>
              <a:t>Mesure de la dérive</a:t>
            </a:r>
            <a:endParaRPr lang="en-US" sz="1050" dirty="0"/>
          </a:p>
        </p:txBody>
      </p:sp>
      <p:pic>
        <p:nvPicPr>
          <p:cNvPr id="69" name="ok_99" descr="preencoded.png"/>
          <p:cNvPicPr>
            <a:picLocks noChangeAspect="1"/>
          </p:cNvPicPr>
          <p:nvPr/>
        </p:nvPicPr>
        <p:blipFill>
          <a:blip r:embed="rId4"/>
          <a:stretch>
            <a:fillRect/>
          </a:stretch>
        </p:blipFill>
        <p:spPr>
          <a:xfrm>
            <a:off x="7296912" y="3227832"/>
            <a:ext cx="182880" cy="182880"/>
          </a:xfrm>
          <a:prstGeom prst="rect">
            <a:avLst/>
          </a:prstGeom>
        </p:spPr>
      </p:pic>
      <p:sp>
        <p:nvSpPr>
          <p:cNvPr id="70" name="t_100"/>
          <p:cNvSpPr txBox="1"/>
          <p:nvPr/>
        </p:nvSpPr>
        <p:spPr>
          <a:xfrm>
            <a:off x="7534656" y="3172968"/>
            <a:ext cx="1170432" cy="438912"/>
          </a:xfrm>
          <a:prstGeom prst="rect">
            <a:avLst/>
          </a:prstGeom>
          <a:noFill/>
          <a:ln/>
        </p:spPr>
        <p:txBody>
          <a:bodyPr wrap="square" lIns="0" tIns="0" rIns="0" bIns="0" rtlCol="0" anchor="t"/>
          <a:lstStyle/>
          <a:p>
            <a:pPr marL="0" indent="0">
              <a:buNone/>
            </a:pPr>
            <a:r>
              <a:rPr lang="en-US" sz="1050" dirty="0">
                <a:solidFill>
                  <a:schemeClr val="tx1"/>
                </a:solidFill>
              </a:rPr>
              <a:t>Règle de ré-entraînement</a:t>
            </a:r>
            <a:endParaRPr lang="en-US" sz="1050" dirty="0"/>
          </a:p>
        </p:txBody>
      </p:sp>
      <p:pic>
        <p:nvPicPr>
          <p:cNvPr id="71" name="ok_101" descr="preencoded.png"/>
          <p:cNvPicPr>
            <a:picLocks noChangeAspect="1"/>
          </p:cNvPicPr>
          <p:nvPr/>
        </p:nvPicPr>
        <p:blipFill>
          <a:blip r:embed="rId4"/>
          <a:stretch>
            <a:fillRect/>
          </a:stretch>
        </p:blipFill>
        <p:spPr>
          <a:xfrm>
            <a:off x="7296912" y="3703320"/>
            <a:ext cx="182880" cy="182880"/>
          </a:xfrm>
          <a:prstGeom prst="rect">
            <a:avLst/>
          </a:prstGeom>
        </p:spPr>
      </p:pic>
      <p:sp>
        <p:nvSpPr>
          <p:cNvPr id="72" name="t_102"/>
          <p:cNvSpPr txBox="1"/>
          <p:nvPr/>
        </p:nvSpPr>
        <p:spPr>
          <a:xfrm>
            <a:off x="7534656" y="3648456"/>
            <a:ext cx="1170432" cy="438912"/>
          </a:xfrm>
          <a:prstGeom prst="rect">
            <a:avLst/>
          </a:prstGeom>
          <a:noFill/>
          <a:ln/>
        </p:spPr>
        <p:txBody>
          <a:bodyPr wrap="square" lIns="0" tIns="0" rIns="0" bIns="0" rtlCol="0" anchor="t"/>
          <a:lstStyle/>
          <a:p>
            <a:pPr marL="0" indent="0">
              <a:buNone/>
            </a:pPr>
            <a:r>
              <a:rPr lang="en-US" sz="1050" dirty="0">
                <a:solidFill>
                  <a:schemeClr val="tx1"/>
                </a:solidFill>
              </a:rPr>
              <a:t>Démo de bout en bout</a:t>
            </a:r>
            <a:endParaRPr lang="en-US" sz="1050" dirty="0"/>
          </a:p>
        </p:txBody>
      </p:sp>
      <p:pic>
        <p:nvPicPr>
          <p:cNvPr id="73" name="ok_103" descr="preencoded.png"/>
          <p:cNvPicPr>
            <a:picLocks noChangeAspect="1"/>
          </p:cNvPicPr>
          <p:nvPr/>
        </p:nvPicPr>
        <p:blipFill>
          <a:blip r:embed="rId4"/>
          <a:stretch>
            <a:fillRect/>
          </a:stretch>
        </p:blipFill>
        <p:spPr>
          <a:xfrm>
            <a:off x="7296912" y="4178808"/>
            <a:ext cx="182880" cy="182880"/>
          </a:xfrm>
          <a:prstGeom prst="rect">
            <a:avLst/>
          </a:prstGeom>
        </p:spPr>
      </p:pic>
      <p:sp>
        <p:nvSpPr>
          <p:cNvPr id="74" name="t_104"/>
          <p:cNvSpPr txBox="1"/>
          <p:nvPr/>
        </p:nvSpPr>
        <p:spPr>
          <a:xfrm>
            <a:off x="7534656" y="4123944"/>
            <a:ext cx="1170432" cy="438912"/>
          </a:xfrm>
          <a:prstGeom prst="rect">
            <a:avLst/>
          </a:prstGeom>
          <a:noFill/>
          <a:ln/>
        </p:spPr>
        <p:txBody>
          <a:bodyPr wrap="square" lIns="0" tIns="0" rIns="0" bIns="0" rtlCol="0" anchor="t"/>
          <a:lstStyle/>
          <a:p>
            <a:pPr marL="0" indent="0">
              <a:buNone/>
            </a:pPr>
            <a:r>
              <a:rPr lang="en-US" sz="1050" dirty="0">
                <a:solidFill>
                  <a:schemeClr val="tx1"/>
                </a:solidFill>
              </a:rPr>
              <a:t>Soutenance</a:t>
            </a:r>
            <a:endParaRPr lang="en-US" sz="1050" dirty="0"/>
          </a:p>
        </p:txBody>
      </p:sp>
      <p:sp>
        <p:nvSpPr>
          <p:cNvPr id="7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6675120" cy="640080"/>
          </a:xfrm>
          <a:prstGeom prst="rect">
            <a:avLst/>
          </a:prstGeom>
          <a:noFill/>
          <a:ln/>
        </p:spPr>
        <p:txBody>
          <a:bodyPr wrap="square" lIns="0" tIns="0" rIns="0" bIns="0" rtlCol="0" anchor="ctr"/>
          <a:lstStyle/>
          <a:p>
            <a:pPr marL="0" indent="0" algn="l">
              <a:buNone/>
            </a:pPr>
            <a:r>
              <a:rPr lang="en-US" sz="2600" b="1" dirty="0">
                <a:solidFill>
                  <a:schemeClr val="tx2"/>
                </a:solidFill>
              </a:rPr>
              <a:t>Livrables et évaluation</a:t>
            </a:r>
            <a:endParaRPr lang="en-US" sz="2600" dirty="0"/>
          </a:p>
        </p:txBody>
      </p:sp>
      <p:sp>
        <p:nvSpPr>
          <p:cNvPr id="3" name="pill_105"/>
          <p:cNvSpPr/>
          <p:nvPr/>
        </p:nvSpPr>
        <p:spPr>
          <a:xfrm>
            <a:off x="7269480" y="393192"/>
            <a:ext cx="1417320" cy="365760"/>
          </a:xfrm>
          <a:prstGeom prst="roundRect">
            <a:avLst>
              <a:gd name="adj" fmla="val 50000"/>
            </a:avLst>
          </a:prstGeom>
          <a:solidFill>
            <a:schemeClr val="accent6"/>
          </a:solidFill>
          <a:ln w="12700">
            <a:solidFill>
              <a:schemeClr val="accent6"/>
            </a:solidFill>
            <a:prstDash val="solid"/>
          </a:ln>
        </p:spPr>
      </p:sp>
      <p:sp>
        <p:nvSpPr>
          <p:cNvPr id="4" name="t_106"/>
          <p:cNvSpPr txBox="1"/>
          <p:nvPr/>
        </p:nvSpPr>
        <p:spPr>
          <a:xfrm>
            <a:off x="7269480" y="393192"/>
            <a:ext cx="1417320" cy="365760"/>
          </a:xfrm>
          <a:prstGeom prst="rect">
            <a:avLst/>
          </a:prstGeom>
          <a:noFill/>
          <a:ln/>
        </p:spPr>
        <p:txBody>
          <a:bodyPr wrap="square" lIns="0" tIns="0" rIns="0" bIns="0" rtlCol="0" anchor="ctr"/>
          <a:lstStyle/>
          <a:p>
            <a:pPr marL="0" indent="0" algn="ctr">
              <a:buNone/>
            </a:pPr>
            <a:r>
              <a:rPr lang="en-US" sz="1100" b="1" dirty="0">
                <a:solidFill>
                  <a:schemeClr val="bg1"/>
                </a:solidFill>
              </a:rPr>
              <a:t>ÉVALUATION</a:t>
            </a:r>
            <a:endParaRPr lang="en-US" sz="1100" dirty="0"/>
          </a:p>
        </p:txBody>
      </p:sp>
      <p:sp>
        <p:nvSpPr>
          <p:cNvPr id="5" name="t_107"/>
          <p:cNvSpPr txBox="1"/>
          <p:nvPr/>
        </p:nvSpPr>
        <p:spPr>
          <a:xfrm>
            <a:off x="457200" y="1051560"/>
            <a:ext cx="3657600" cy="320040"/>
          </a:xfrm>
          <a:prstGeom prst="rect">
            <a:avLst/>
          </a:prstGeom>
          <a:noFill/>
          <a:ln/>
        </p:spPr>
        <p:txBody>
          <a:bodyPr wrap="square" lIns="0" tIns="0" rIns="0" bIns="0" rtlCol="0" anchor="t"/>
          <a:lstStyle/>
          <a:p>
            <a:pPr marL="0" indent="0">
              <a:buNone/>
            </a:pPr>
            <a:r>
              <a:rPr lang="en-US" sz="1500" b="1" dirty="0">
                <a:solidFill>
                  <a:schemeClr val="accent1"/>
                </a:solidFill>
              </a:rPr>
              <a:t>À </a:t>
            </a:r>
            <a:r>
              <a:rPr lang="en-US" sz="1500" b="1" dirty="0" err="1">
                <a:solidFill>
                  <a:schemeClr val="accent1"/>
                </a:solidFill>
              </a:rPr>
              <a:t>rendre</a:t>
            </a:r>
            <a:r>
              <a:rPr lang="en-US" sz="1500" b="1" dirty="0">
                <a:solidFill>
                  <a:schemeClr val="accent1"/>
                </a:solidFill>
              </a:rPr>
              <a:t> </a:t>
            </a:r>
            <a:r>
              <a:rPr lang="en-US" sz="1500" b="1" dirty="0" err="1">
                <a:solidFill>
                  <a:schemeClr val="accent1"/>
                </a:solidFill>
              </a:rPr>
              <a:t>lundi</a:t>
            </a:r>
            <a:r>
              <a:rPr lang="en-US" sz="1500" b="1" dirty="0">
                <a:solidFill>
                  <a:schemeClr val="accent1"/>
                </a:solidFill>
              </a:rPr>
              <a:t> 25 </a:t>
            </a:r>
            <a:r>
              <a:rPr lang="en-US" sz="1500" b="1" dirty="0" err="1">
                <a:solidFill>
                  <a:schemeClr val="accent1"/>
                </a:solidFill>
              </a:rPr>
              <a:t>octobre</a:t>
            </a:r>
            <a:r>
              <a:rPr lang="en-US" sz="1500" b="1" dirty="0">
                <a:solidFill>
                  <a:schemeClr val="accent1"/>
                </a:solidFill>
              </a:rPr>
              <a:t> </a:t>
            </a:r>
            <a:r>
              <a:rPr lang="en-US" sz="1500" b="1" dirty="0" err="1">
                <a:solidFill>
                  <a:schemeClr val="accent1"/>
                </a:solidFill>
              </a:rPr>
              <a:t>minuit</a:t>
            </a:r>
            <a:endParaRPr lang="en-US" sz="1500" dirty="0"/>
          </a:p>
        </p:txBody>
      </p:sp>
      <p:pic>
        <p:nvPicPr>
          <p:cNvPr id="6" name="ok_108" descr="preencoded.png"/>
          <p:cNvPicPr>
            <a:picLocks noChangeAspect="1"/>
          </p:cNvPicPr>
          <p:nvPr/>
        </p:nvPicPr>
        <p:blipFill>
          <a:blip r:embed="rId3"/>
          <a:stretch>
            <a:fillRect/>
          </a:stretch>
        </p:blipFill>
        <p:spPr>
          <a:xfrm>
            <a:off x="457200" y="1536192"/>
            <a:ext cx="256032" cy="256032"/>
          </a:xfrm>
          <a:prstGeom prst="rect">
            <a:avLst/>
          </a:prstGeom>
        </p:spPr>
      </p:pic>
      <p:sp>
        <p:nvSpPr>
          <p:cNvPr id="7" name="t_109"/>
          <p:cNvSpPr txBox="1"/>
          <p:nvPr/>
        </p:nvSpPr>
        <p:spPr>
          <a:xfrm>
            <a:off x="822960" y="1463040"/>
            <a:ext cx="3291840" cy="411480"/>
          </a:xfrm>
          <a:prstGeom prst="rect">
            <a:avLst/>
          </a:prstGeom>
          <a:noFill/>
          <a:ln/>
        </p:spPr>
        <p:txBody>
          <a:bodyPr wrap="square" lIns="0" tIns="0" rIns="0" bIns="0" rtlCol="0" anchor="ctr"/>
          <a:lstStyle/>
          <a:p>
            <a:pPr marL="0" indent="0">
              <a:buNone/>
            </a:pPr>
            <a:r>
              <a:rPr lang="en-US" sz="1250" b="1" dirty="0">
                <a:solidFill>
                  <a:schemeClr val="tx2"/>
                </a:solidFill>
              </a:rPr>
              <a:t>Dépôt Git : </a:t>
            </a:r>
            <a:r>
              <a:rPr lang="en-US" sz="1250" dirty="0">
                <a:solidFill>
                  <a:schemeClr val="tx1"/>
                </a:solidFill>
              </a:rPr>
              <a:t>code, historique de commits, README</a:t>
            </a:r>
            <a:endParaRPr lang="en-US" sz="1250" dirty="0"/>
          </a:p>
        </p:txBody>
      </p:sp>
      <p:pic>
        <p:nvPicPr>
          <p:cNvPr id="8" name="ok_110" descr="preencoded.png"/>
          <p:cNvPicPr>
            <a:picLocks noChangeAspect="1"/>
          </p:cNvPicPr>
          <p:nvPr/>
        </p:nvPicPr>
        <p:blipFill>
          <a:blip r:embed="rId3"/>
          <a:stretch>
            <a:fillRect/>
          </a:stretch>
        </p:blipFill>
        <p:spPr>
          <a:xfrm>
            <a:off x="457200" y="1993392"/>
            <a:ext cx="256032" cy="256032"/>
          </a:xfrm>
          <a:prstGeom prst="rect">
            <a:avLst/>
          </a:prstGeom>
        </p:spPr>
      </p:pic>
      <p:sp>
        <p:nvSpPr>
          <p:cNvPr id="9" name="t_111"/>
          <p:cNvSpPr txBox="1"/>
          <p:nvPr/>
        </p:nvSpPr>
        <p:spPr>
          <a:xfrm>
            <a:off x="822960" y="1920240"/>
            <a:ext cx="3291840" cy="411480"/>
          </a:xfrm>
          <a:prstGeom prst="rect">
            <a:avLst/>
          </a:prstGeom>
          <a:noFill/>
          <a:ln/>
        </p:spPr>
        <p:txBody>
          <a:bodyPr wrap="square" lIns="0" tIns="0" rIns="0" bIns="0" rtlCol="0" anchor="ctr"/>
          <a:lstStyle/>
          <a:p>
            <a:pPr marL="0" indent="0">
              <a:buNone/>
            </a:pPr>
            <a:r>
              <a:rPr lang="en-US" sz="1250" b="1" dirty="0">
                <a:solidFill>
                  <a:schemeClr val="tx2"/>
                </a:solidFill>
              </a:rPr>
              <a:t>Modèle tracé : </a:t>
            </a:r>
            <a:r>
              <a:rPr lang="en-US" sz="1250" dirty="0">
                <a:solidFill>
                  <a:schemeClr val="tx1"/>
                </a:solidFill>
              </a:rPr>
              <a:t>runs MLflow et modèle retenu</a:t>
            </a:r>
            <a:endParaRPr lang="en-US" sz="1250" dirty="0"/>
          </a:p>
        </p:txBody>
      </p:sp>
      <p:pic>
        <p:nvPicPr>
          <p:cNvPr id="10" name="ok_112" descr="preencoded.png"/>
          <p:cNvPicPr>
            <a:picLocks noChangeAspect="1"/>
          </p:cNvPicPr>
          <p:nvPr/>
        </p:nvPicPr>
        <p:blipFill>
          <a:blip r:embed="rId3"/>
          <a:stretch>
            <a:fillRect/>
          </a:stretch>
        </p:blipFill>
        <p:spPr>
          <a:xfrm>
            <a:off x="457200" y="2450592"/>
            <a:ext cx="256032" cy="256032"/>
          </a:xfrm>
          <a:prstGeom prst="rect">
            <a:avLst/>
          </a:prstGeom>
        </p:spPr>
      </p:pic>
      <p:sp>
        <p:nvSpPr>
          <p:cNvPr id="11" name="t_113"/>
          <p:cNvSpPr txBox="1"/>
          <p:nvPr/>
        </p:nvSpPr>
        <p:spPr>
          <a:xfrm>
            <a:off x="822960" y="2377440"/>
            <a:ext cx="3291840" cy="411480"/>
          </a:xfrm>
          <a:prstGeom prst="rect">
            <a:avLst/>
          </a:prstGeom>
          <a:noFill/>
          <a:ln/>
        </p:spPr>
        <p:txBody>
          <a:bodyPr wrap="square" lIns="0" tIns="0" rIns="0" bIns="0" rtlCol="0" anchor="ctr"/>
          <a:lstStyle/>
          <a:p>
            <a:pPr marL="0" indent="0">
              <a:buNone/>
            </a:pPr>
            <a:r>
              <a:rPr lang="en-US" sz="1250" b="1" dirty="0">
                <a:solidFill>
                  <a:schemeClr val="tx2"/>
                </a:solidFill>
              </a:rPr>
              <a:t>Service : </a:t>
            </a:r>
            <a:r>
              <a:rPr lang="en-US" sz="1250" dirty="0">
                <a:solidFill>
                  <a:schemeClr val="tx1"/>
                </a:solidFill>
              </a:rPr>
              <a:t>API + image Docker qui démarre</a:t>
            </a:r>
            <a:endParaRPr lang="en-US" sz="1250" dirty="0"/>
          </a:p>
        </p:txBody>
      </p:sp>
      <p:pic>
        <p:nvPicPr>
          <p:cNvPr id="12" name="ok_114" descr="preencoded.png"/>
          <p:cNvPicPr>
            <a:picLocks noChangeAspect="1"/>
          </p:cNvPicPr>
          <p:nvPr/>
        </p:nvPicPr>
        <p:blipFill>
          <a:blip r:embed="rId3"/>
          <a:stretch>
            <a:fillRect/>
          </a:stretch>
        </p:blipFill>
        <p:spPr>
          <a:xfrm>
            <a:off x="457200" y="2907792"/>
            <a:ext cx="256032" cy="256032"/>
          </a:xfrm>
          <a:prstGeom prst="rect">
            <a:avLst/>
          </a:prstGeom>
        </p:spPr>
      </p:pic>
      <p:sp>
        <p:nvSpPr>
          <p:cNvPr id="13" name="t_115"/>
          <p:cNvSpPr txBox="1"/>
          <p:nvPr/>
        </p:nvSpPr>
        <p:spPr>
          <a:xfrm>
            <a:off x="822960" y="2834640"/>
            <a:ext cx="3291840" cy="411480"/>
          </a:xfrm>
          <a:prstGeom prst="rect">
            <a:avLst/>
          </a:prstGeom>
          <a:noFill/>
          <a:ln/>
        </p:spPr>
        <p:txBody>
          <a:bodyPr wrap="square" lIns="0" tIns="0" rIns="0" bIns="0" rtlCol="0" anchor="ctr"/>
          <a:lstStyle/>
          <a:p>
            <a:pPr marL="0" indent="0">
              <a:buNone/>
            </a:pPr>
            <a:r>
              <a:rPr lang="en-US" sz="1250" b="1" dirty="0">
                <a:solidFill>
                  <a:schemeClr val="tx2"/>
                </a:solidFill>
              </a:rPr>
              <a:t>Qualité : </a:t>
            </a:r>
            <a:r>
              <a:rPr lang="en-US" sz="1250" dirty="0">
                <a:solidFill>
                  <a:schemeClr val="tx1"/>
                </a:solidFill>
              </a:rPr>
              <a:t>tests verts et CI fonctionnelle</a:t>
            </a:r>
            <a:endParaRPr lang="en-US" sz="1250" dirty="0"/>
          </a:p>
        </p:txBody>
      </p:sp>
      <p:pic>
        <p:nvPicPr>
          <p:cNvPr id="14" name="ok_116" descr="preencoded.png"/>
          <p:cNvPicPr>
            <a:picLocks noChangeAspect="1"/>
          </p:cNvPicPr>
          <p:nvPr/>
        </p:nvPicPr>
        <p:blipFill>
          <a:blip r:embed="rId3"/>
          <a:stretch>
            <a:fillRect/>
          </a:stretch>
        </p:blipFill>
        <p:spPr>
          <a:xfrm>
            <a:off x="457200" y="3364992"/>
            <a:ext cx="256032" cy="256032"/>
          </a:xfrm>
          <a:prstGeom prst="rect">
            <a:avLst/>
          </a:prstGeom>
        </p:spPr>
      </p:pic>
      <p:sp>
        <p:nvSpPr>
          <p:cNvPr id="15" name="t_117"/>
          <p:cNvSpPr txBox="1"/>
          <p:nvPr/>
        </p:nvSpPr>
        <p:spPr>
          <a:xfrm>
            <a:off x="822960" y="3291840"/>
            <a:ext cx="3291840" cy="411480"/>
          </a:xfrm>
          <a:prstGeom prst="rect">
            <a:avLst/>
          </a:prstGeom>
          <a:noFill/>
          <a:ln/>
        </p:spPr>
        <p:txBody>
          <a:bodyPr wrap="square" lIns="0" tIns="0" rIns="0" bIns="0" rtlCol="0" anchor="ctr"/>
          <a:lstStyle/>
          <a:p>
            <a:pPr marL="0" indent="0">
              <a:buNone/>
            </a:pPr>
            <a:r>
              <a:rPr lang="en-US" sz="1250" b="1" dirty="0">
                <a:solidFill>
                  <a:schemeClr val="tx2"/>
                </a:solidFill>
              </a:rPr>
              <a:t>Surveillance : </a:t>
            </a:r>
            <a:r>
              <a:rPr lang="en-US" sz="1250" dirty="0">
                <a:solidFill>
                  <a:schemeClr val="tx1"/>
                </a:solidFill>
              </a:rPr>
              <a:t>rapport de dérive et décision</a:t>
            </a:r>
            <a:endParaRPr lang="en-US" sz="1250" dirty="0"/>
          </a:p>
        </p:txBody>
      </p:sp>
      <p:pic>
        <p:nvPicPr>
          <p:cNvPr id="16" name="ok_118" descr="preencoded.png"/>
          <p:cNvPicPr>
            <a:picLocks noChangeAspect="1"/>
          </p:cNvPicPr>
          <p:nvPr/>
        </p:nvPicPr>
        <p:blipFill>
          <a:blip r:embed="rId3"/>
          <a:stretch>
            <a:fillRect/>
          </a:stretch>
        </p:blipFill>
        <p:spPr>
          <a:xfrm>
            <a:off x="457200" y="3822192"/>
            <a:ext cx="256032" cy="256032"/>
          </a:xfrm>
          <a:prstGeom prst="rect">
            <a:avLst/>
          </a:prstGeom>
        </p:spPr>
      </p:pic>
      <p:sp>
        <p:nvSpPr>
          <p:cNvPr id="17" name="t_119"/>
          <p:cNvSpPr txBox="1"/>
          <p:nvPr/>
        </p:nvSpPr>
        <p:spPr>
          <a:xfrm>
            <a:off x="822960" y="3749040"/>
            <a:ext cx="3291840" cy="411480"/>
          </a:xfrm>
          <a:prstGeom prst="rect">
            <a:avLst/>
          </a:prstGeom>
          <a:noFill/>
          <a:ln/>
        </p:spPr>
        <p:txBody>
          <a:bodyPr wrap="square" lIns="0" tIns="0" rIns="0" bIns="0" rtlCol="0" anchor="ctr"/>
          <a:lstStyle/>
          <a:p>
            <a:pPr marL="0" indent="0">
              <a:buNone/>
            </a:pPr>
            <a:r>
              <a:rPr lang="en-US" sz="1250" b="1" dirty="0">
                <a:solidFill>
                  <a:schemeClr val="tx2"/>
                </a:solidFill>
              </a:rPr>
              <a:t>Soutenance : </a:t>
            </a:r>
            <a:r>
              <a:rPr lang="en-US" sz="1250" dirty="0">
                <a:solidFill>
                  <a:schemeClr val="tx1"/>
                </a:solidFill>
              </a:rPr>
              <a:t>support de 10 diapositives maximum</a:t>
            </a:r>
            <a:endParaRPr lang="en-US" sz="1250" dirty="0"/>
          </a:p>
        </p:txBody>
      </p:sp>
      <p:graphicFrame>
        <p:nvGraphicFramePr>
          <p:cNvPr id="26" name="tbl_120"/>
          <p:cNvGraphicFramePr>
            <a:graphicFrameLocks noGrp="1"/>
          </p:cNvGraphicFramePr>
          <p:nvPr>
            <p:extLst>
              <p:ext uri="{D42A27DB-BD31-4B8C-83A1-F6EECF244321}">
                <p14:modId xmlns:p14="http://schemas.microsoft.com/office/powerpoint/2010/main" val="1579011935"/>
              </p:ext>
            </p:extLst>
          </p:nvPr>
        </p:nvGraphicFramePr>
        <p:xfrm>
          <a:off x="4389120" y="1051560"/>
          <a:ext cx="4297680" cy="3108960"/>
        </p:xfrm>
        <a:graphic>
          <a:graphicData uri="http://schemas.openxmlformats.org/drawingml/2006/table">
            <a:tbl>
              <a:tblPr/>
              <a:tblGrid>
                <a:gridCol w="34747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rPr>
                        <a:t>Critère</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1B4B"/>
                    </a:solidFill>
                  </a:tcPr>
                </a:tc>
                <a:tc>
                  <a:txBody>
                    <a:bodyPr/>
                    <a:lstStyle/>
                    <a:p>
                      <a:pPr marL="0" indent="0">
                        <a:buNone/>
                      </a:pPr>
                      <a:r>
                        <a:rPr lang="en-US" sz="1150" b="1" dirty="0">
                          <a:solidFill>
                            <a:srgbClr val="FFFFFF"/>
                          </a:solidFill>
                        </a:rPr>
                        <a:t>Points</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1B4B"/>
                    </a:solidFill>
                  </a:tcPr>
                </a:tc>
                <a:extLst>
                  <a:ext uri="{0D108BD9-81ED-4DB2-BD59-A6C34878D82A}">
                    <a16:rowId xmlns:a16="http://schemas.microsoft.com/office/drawing/2014/main" val="10000"/>
                  </a:ext>
                </a:extLst>
              </a:tr>
              <a:tr h="310896">
                <a:tc>
                  <a:txBody>
                    <a:bodyPr/>
                    <a:lstStyle/>
                    <a:p>
                      <a:pPr marL="0" indent="0">
                        <a:buNone/>
                      </a:pPr>
                      <a:r>
                        <a:rPr lang="en-US" sz="1150" dirty="0">
                          <a:solidFill>
                            <a:srgbClr val="1E293B"/>
                          </a:solidFill>
                        </a:rPr>
                        <a:t>Données, métrique et justification</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rPr>
                        <a:t>3</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dirty="0">
                          <a:solidFill>
                            <a:srgbClr val="1E293B"/>
                          </a:solidFill>
                        </a:rPr>
                        <a:t>Modèle reproductible et suivi MLflow</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0F8"/>
                    </a:solidFill>
                  </a:tcPr>
                </a:tc>
                <a:tc>
                  <a:txBody>
                    <a:bodyPr/>
                    <a:lstStyle/>
                    <a:p>
                      <a:pPr marL="0" indent="0">
                        <a:buNone/>
                      </a:pPr>
                      <a:r>
                        <a:rPr lang="en-US" sz="1150" dirty="0">
                          <a:solidFill>
                            <a:srgbClr val="1E293B"/>
                          </a:solidFill>
                        </a:rPr>
                        <a:t>4</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0F8"/>
                    </a:solidFill>
                  </a:tcPr>
                </a:tc>
                <a:extLst>
                  <a:ext uri="{0D108BD9-81ED-4DB2-BD59-A6C34878D82A}">
                    <a16:rowId xmlns:a16="http://schemas.microsoft.com/office/drawing/2014/main" val="10002"/>
                  </a:ext>
                </a:extLst>
              </a:tr>
              <a:tr h="310896">
                <a:tc>
                  <a:txBody>
                    <a:bodyPr/>
                    <a:lstStyle/>
                    <a:p>
                      <a:pPr marL="0" indent="0">
                        <a:buNone/>
                      </a:pPr>
                      <a:r>
                        <a:rPr lang="en-US" sz="1150" dirty="0">
                          <a:solidFill>
                            <a:srgbClr val="1E293B"/>
                          </a:solidFill>
                        </a:rPr>
                        <a:t>API : validation, versionnement</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rPr>
                        <a:t>3</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dirty="0">
                          <a:solidFill>
                            <a:srgbClr val="1E293B"/>
                          </a:solidFill>
                        </a:rPr>
                        <a:t>Tests et intégration continue</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0F8"/>
                    </a:solidFill>
                  </a:tcPr>
                </a:tc>
                <a:tc>
                  <a:txBody>
                    <a:bodyPr/>
                    <a:lstStyle/>
                    <a:p>
                      <a:pPr marL="0" indent="0">
                        <a:buNone/>
                      </a:pPr>
                      <a:r>
                        <a:rPr lang="en-US" sz="1150" dirty="0">
                          <a:solidFill>
                            <a:srgbClr val="1E293B"/>
                          </a:solidFill>
                        </a:rPr>
                        <a:t>3</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0F8"/>
                    </a:solidFill>
                  </a:tcPr>
                </a:tc>
                <a:extLst>
                  <a:ext uri="{0D108BD9-81ED-4DB2-BD59-A6C34878D82A}">
                    <a16:rowId xmlns:a16="http://schemas.microsoft.com/office/drawing/2014/main" val="10004"/>
                  </a:ext>
                </a:extLst>
              </a:tr>
              <a:tr h="310896">
                <a:tc>
                  <a:txBody>
                    <a:bodyPr/>
                    <a:lstStyle/>
                    <a:p>
                      <a:pPr marL="0" indent="0">
                        <a:buNone/>
                      </a:pPr>
                      <a:r>
                        <a:rPr lang="en-US" sz="1150" dirty="0">
                          <a:solidFill>
                            <a:srgbClr val="1E293B"/>
                          </a:solidFill>
                        </a:rPr>
                        <a:t>Docker</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rPr>
                        <a:t>2</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dirty="0">
                          <a:solidFill>
                            <a:srgbClr val="1E293B"/>
                          </a:solidFill>
                        </a:rPr>
                        <a:t>Surveillance et règle de décision</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0F8"/>
                    </a:solidFill>
                  </a:tcPr>
                </a:tc>
                <a:tc>
                  <a:txBody>
                    <a:bodyPr/>
                    <a:lstStyle/>
                    <a:p>
                      <a:pPr marL="0" indent="0">
                        <a:buNone/>
                      </a:pPr>
                      <a:r>
                        <a:rPr lang="en-US" sz="1150" dirty="0">
                          <a:solidFill>
                            <a:srgbClr val="1E293B"/>
                          </a:solidFill>
                        </a:rPr>
                        <a:t>2</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0F8"/>
                    </a:solidFill>
                  </a:tcPr>
                </a:tc>
                <a:extLst>
                  <a:ext uri="{0D108BD9-81ED-4DB2-BD59-A6C34878D82A}">
                    <a16:rowId xmlns:a16="http://schemas.microsoft.com/office/drawing/2014/main" val="10006"/>
                  </a:ext>
                </a:extLst>
              </a:tr>
              <a:tr h="310896">
                <a:tc>
                  <a:txBody>
                    <a:bodyPr/>
                    <a:lstStyle/>
                    <a:p>
                      <a:pPr marL="0" indent="0">
                        <a:buNone/>
                      </a:pPr>
                      <a:r>
                        <a:rPr lang="en-US" sz="1150" dirty="0">
                          <a:solidFill>
                            <a:srgbClr val="1E293B"/>
                          </a:solidFill>
                        </a:rPr>
                        <a:t>Code et documentation</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rPr>
                        <a:t>1</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50" dirty="0">
                          <a:solidFill>
                            <a:srgbClr val="1E293B"/>
                          </a:solidFill>
                        </a:rPr>
                        <a:t>Soutenance et démo</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0F8"/>
                    </a:solidFill>
                  </a:tcPr>
                </a:tc>
                <a:tc>
                  <a:txBody>
                    <a:bodyPr/>
                    <a:lstStyle/>
                    <a:p>
                      <a:pPr marL="0" indent="0">
                        <a:buNone/>
                      </a:pPr>
                      <a:r>
                        <a:rPr lang="en-US" sz="1150" dirty="0">
                          <a:solidFill>
                            <a:srgbClr val="1E293B"/>
                          </a:solidFill>
                        </a:rPr>
                        <a:t>2</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0F8"/>
                    </a:solidFill>
                  </a:tcPr>
                </a:tc>
                <a:extLst>
                  <a:ext uri="{0D108BD9-81ED-4DB2-BD59-A6C34878D82A}">
                    <a16:rowId xmlns:a16="http://schemas.microsoft.com/office/drawing/2014/main" val="10008"/>
                  </a:ext>
                </a:extLst>
              </a:tr>
              <a:tr h="310896">
                <a:tc>
                  <a:txBody>
                    <a:bodyPr/>
                    <a:lstStyle/>
                    <a:p>
                      <a:pPr marL="0" indent="0">
                        <a:buNone/>
                      </a:pPr>
                      <a:r>
                        <a:rPr lang="en-US" sz="1150" dirty="0">
                          <a:solidFill>
                            <a:srgbClr val="1E293B"/>
                          </a:solidFill>
                        </a:rPr>
                        <a:t>Total</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rPr>
                        <a:t>20</a:t>
                      </a:r>
                      <a:endParaRPr lang="en-US" sz="1150" dirty="0"/>
                    </a:p>
                  </a:txBody>
                  <a:tcPr marL="73152" marR="73152"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9" name="t_121"/>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200" i="1" dirty="0">
                <a:solidFill>
                  <a:schemeClr val="accent5"/>
                </a:solidFill>
              </a:rPr>
              <a:t>Bonus (+2) : tableau de bord des forages à risque, registre de </a:t>
            </a:r>
            <a:r>
              <a:rPr lang="en-US" sz="1200" i="1" dirty="0" err="1">
                <a:solidFill>
                  <a:schemeClr val="accent5"/>
                </a:solidFill>
              </a:rPr>
              <a:t>modèles</a:t>
            </a:r>
            <a:r>
              <a:rPr lang="en-US" sz="1200" i="1" dirty="0">
                <a:solidFill>
                  <a:schemeClr val="accent5"/>
                </a:solidFill>
              </a:rPr>
              <a:t> </a:t>
            </a:r>
            <a:r>
              <a:rPr lang="en-US" sz="1200" i="1" dirty="0" err="1">
                <a:solidFill>
                  <a:schemeClr val="accent5"/>
                </a:solidFill>
              </a:rPr>
              <a:t>MLflow</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theme/theme1.xml><?xml version="1.0" encoding="utf-8"?>
<a:theme xmlns:a="http://schemas.openxmlformats.org/drawingml/2006/main" name="Projet MLOps">
  <a:themeElements>
    <a:clrScheme name="Projet MLOps">
      <a:dk1>
        <a:srgbClr val="1E293B"/>
      </a:dk1>
      <a:lt1>
        <a:srgbClr val="FFFFFF"/>
      </a:lt1>
      <a:dk2>
        <a:srgbClr val="1E1B4B"/>
      </a:dk2>
      <a:lt2>
        <a:srgbClr val="EEF0F8"/>
      </a:lt2>
      <a:accent1>
        <a:srgbClr val="4F46E5"/>
      </a:accent1>
      <a:accent2>
        <a:srgbClr val="0E7490"/>
      </a:accent2>
      <a:accent3>
        <a:srgbClr val="15803D"/>
      </a:accent3>
      <a:accent4>
        <a:srgbClr val="F59E0B"/>
      </a:accent4>
      <a:accent5>
        <a:srgbClr val="64748B"/>
      </a:accent5>
      <a:accent6>
        <a:srgbClr val="B91C1C"/>
      </a:accent6>
      <a:hlink>
        <a:srgbClr val="4F46E5"/>
      </a:hlink>
      <a:folHlink>
        <a:srgbClr val="1E1B4B"/>
      </a:folHlink>
    </a:clrScheme>
    <a:fontScheme name="Projet MLO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565</Words>
  <Application>Microsoft Office PowerPoint</Application>
  <PresentationFormat>Affichage à l'écran (16:9)</PresentationFormat>
  <Paragraphs>89</Paragraphs>
  <Slides>4</Slides>
  <Notes>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vt:i4>
      </vt:variant>
    </vt:vector>
  </HeadingPairs>
  <TitlesOfParts>
    <vt:vector size="8" baseType="lpstr">
      <vt:lpstr>Arial</vt:lpstr>
      <vt:lpstr>Calibri</vt:lpstr>
      <vt:lpstr>Courier New</vt:lpstr>
      <vt:lpstr>Projet MLOps</vt:lpstr>
      <vt:lpstr>Du modèle à la production : prédire les pannes de forages</vt:lpstr>
      <vt:lpstr>Le sujet et votre mission</vt:lpstr>
      <vt:lpstr>Le déroulé des 5 jours</vt:lpstr>
      <vt:lpstr>Livrables et évaluation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MLOps en une semaine</dc:title>
  <dc:subject>PptxGenJS Presentation</dc:subject>
  <dc:creator>Formation</dc:creator>
  <cp:lastModifiedBy>TIEMTORE SOULEYMANE</cp:lastModifiedBy>
  <cp:revision>5</cp:revision>
  <dcterms:created xsi:type="dcterms:W3CDTF">2026-10-15T16:11:49Z</dcterms:created>
  <dcterms:modified xsi:type="dcterms:W3CDTF">2026-10-15T16:37:03Z</dcterms:modified>
</cp:coreProperties>
</file>